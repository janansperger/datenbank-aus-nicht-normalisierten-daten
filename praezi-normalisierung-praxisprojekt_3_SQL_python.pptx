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36"/>
  </p:notesMasterIdLst>
  <p:handoutMasterIdLst>
    <p:handoutMasterId r:id="rId37"/>
  </p:handoutMasterIdLst>
  <p:sldIdLst>
    <p:sldId id="268" r:id="rId5"/>
    <p:sldId id="269" r:id="rId6"/>
    <p:sldId id="279" r:id="rId7"/>
    <p:sldId id="303" r:id="rId8"/>
    <p:sldId id="280" r:id="rId9"/>
    <p:sldId id="311" r:id="rId10"/>
    <p:sldId id="281" r:id="rId11"/>
    <p:sldId id="283" r:id="rId12"/>
    <p:sldId id="282" r:id="rId13"/>
    <p:sldId id="285" r:id="rId14"/>
    <p:sldId id="286" r:id="rId15"/>
    <p:sldId id="287" r:id="rId16"/>
    <p:sldId id="284" r:id="rId17"/>
    <p:sldId id="288" r:id="rId18"/>
    <p:sldId id="289" r:id="rId19"/>
    <p:sldId id="304" r:id="rId20"/>
    <p:sldId id="306" r:id="rId21"/>
    <p:sldId id="305" r:id="rId22"/>
    <p:sldId id="291" r:id="rId23"/>
    <p:sldId id="292" r:id="rId24"/>
    <p:sldId id="293" r:id="rId25"/>
    <p:sldId id="294" r:id="rId26"/>
    <p:sldId id="295" r:id="rId27"/>
    <p:sldId id="296" r:id="rId28"/>
    <p:sldId id="307" r:id="rId29"/>
    <p:sldId id="297" r:id="rId30"/>
    <p:sldId id="299" r:id="rId31"/>
    <p:sldId id="301" r:id="rId32"/>
    <p:sldId id="302" r:id="rId33"/>
    <p:sldId id="309" r:id="rId34"/>
    <p:sldId id="308" r:id="rId35"/>
  </p:sldIdLst>
  <p:sldSz cx="12192000" cy="6858000"/>
  <p:notesSz cx="6858000" cy="9144000"/>
  <p:defaultTextStyle>
    <a:defPPr rtl="0"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71D6835-132D-47A3-9AD4-AC678264D069}" v="2" dt="2025-05-13T07:47:51.82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05" autoAdjust="0"/>
    <p:restoredTop sz="59612" autoAdjust="0"/>
  </p:normalViewPr>
  <p:slideViewPr>
    <p:cSldViewPr snapToGrid="0">
      <p:cViewPr varScale="1">
        <p:scale>
          <a:sx n="95" d="100"/>
          <a:sy n="95" d="100"/>
        </p:scale>
        <p:origin x="2748" y="72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9" d="100"/>
          <a:sy n="89" d="100"/>
        </p:scale>
        <p:origin x="279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viewProps" Target="viewProps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microsoft.com/office/2015/10/relationships/revisionInfo" Target="revisionInfo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handoutMaster" Target="handoutMasters/handoutMaster1.xml"/><Relationship Id="rId40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de-DE" dirty="0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665AF7DE-6B88-4578-B51F-19E5758075D2}" type="datetime1">
              <a:rPr lang="de-DE" smtClean="0"/>
              <a:t>14.05.2025</a:t>
            </a:fld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7E6B3739-9081-478F-812E-AE7CE140632E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11210498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de-DE" noProof="0" dirty="0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9A8FEC6E-25C8-45FF-B4D8-62589B337869}" type="datetime1">
              <a:rPr lang="de-DE" noProof="0" smtClean="0"/>
              <a:t>14.05.2025</a:t>
            </a:fld>
            <a:endParaRPr lang="de-DE" noProof="0" dirty="0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de-DE" noProof="0" dirty="0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de-DE" noProof="0" dirty="0"/>
              <a:t>Textmasterformat durch Klicken bearbeiten</a:t>
            </a:r>
          </a:p>
          <a:p>
            <a:pPr lvl="1" rtl="0"/>
            <a:r>
              <a:rPr lang="de-DE" noProof="0" dirty="0"/>
              <a:t>Zweite Ebene</a:t>
            </a:r>
          </a:p>
          <a:p>
            <a:pPr lvl="2" rtl="0"/>
            <a:r>
              <a:rPr lang="de-DE" noProof="0" dirty="0"/>
              <a:t>Dritte Ebene</a:t>
            </a:r>
          </a:p>
          <a:p>
            <a:pPr lvl="3" rtl="0"/>
            <a:r>
              <a:rPr lang="de-DE" noProof="0" dirty="0"/>
              <a:t>Vierte Ebene</a:t>
            </a:r>
          </a:p>
          <a:p>
            <a:pPr lvl="4" rtl="0"/>
            <a:r>
              <a:rPr lang="de-DE" noProof="0" dirty="0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de-DE" noProof="0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560CF8BB-EBC7-4B8F-9632-A5A136FBB880}" type="slidenum">
              <a:rPr lang="de-DE" noProof="0" smtClean="0"/>
              <a:t>‹Nr.›</a:t>
            </a:fld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117036962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Hallo </a:t>
            </a:r>
            <a:r>
              <a:rPr lang="en-US" dirty="0" err="1"/>
              <a:t>Zusammen,ich</a:t>
            </a:r>
            <a:r>
              <a:rPr lang="en-US" dirty="0"/>
              <a:t> </a:t>
            </a:r>
            <a:r>
              <a:rPr lang="en-US" dirty="0" err="1"/>
              <a:t>hoffe</a:t>
            </a:r>
            <a:r>
              <a:rPr lang="en-US" dirty="0"/>
              <a:t> es </a:t>
            </a:r>
            <a:r>
              <a:rPr lang="en-US" dirty="0" err="1"/>
              <a:t>geht</a:t>
            </a:r>
            <a:r>
              <a:rPr lang="en-US" dirty="0"/>
              <a:t> </a:t>
            </a:r>
            <a:r>
              <a:rPr lang="en-US" dirty="0" err="1"/>
              <a:t>euch</a:t>
            </a:r>
            <a:r>
              <a:rPr lang="en-US" dirty="0"/>
              <a:t> alle gut. </a:t>
            </a:r>
          </a:p>
          <a:p>
            <a:r>
              <a:rPr lang="en-US" dirty="0"/>
              <a:t>Wir </a:t>
            </a:r>
            <a:r>
              <a:rPr lang="en-US" dirty="0" err="1"/>
              <a:t>werden</a:t>
            </a:r>
            <a:r>
              <a:rPr lang="en-US" dirty="0"/>
              <a:t> </a:t>
            </a:r>
            <a:r>
              <a:rPr lang="en-US" dirty="0" err="1"/>
              <a:t>euch</a:t>
            </a:r>
            <a:r>
              <a:rPr lang="en-US" dirty="0"/>
              <a:t> die Arbeit </a:t>
            </a:r>
            <a:r>
              <a:rPr lang="en-US" dirty="0" err="1"/>
              <a:t>unseren</a:t>
            </a:r>
            <a:r>
              <a:rPr lang="en-US" dirty="0"/>
              <a:t> </a:t>
            </a:r>
            <a:r>
              <a:rPr lang="en-US" dirty="0" err="1"/>
              <a:t>Gruppenprojekts</a:t>
            </a:r>
            <a:r>
              <a:rPr lang="en-US" dirty="0"/>
              <a:t> </a:t>
            </a:r>
            <a:r>
              <a:rPr lang="en-US" dirty="0" err="1"/>
              <a:t>Vortragen</a:t>
            </a:r>
            <a:r>
              <a:rPr lang="en-US" dirty="0"/>
              <a:t>.</a:t>
            </a:r>
          </a:p>
          <a:p>
            <a:r>
              <a:rPr lang="en-US" dirty="0"/>
              <a:t>Wir </a:t>
            </a:r>
            <a:r>
              <a:rPr lang="en-US" dirty="0" err="1"/>
              <a:t>haben</a:t>
            </a:r>
            <a:r>
              <a:rPr lang="en-US" dirty="0"/>
              <a:t> </a:t>
            </a:r>
            <a:r>
              <a:rPr lang="en-US" dirty="0" err="1"/>
              <a:t>uns</a:t>
            </a:r>
            <a:r>
              <a:rPr lang="en-US" dirty="0"/>
              <a:t> </a:t>
            </a:r>
            <a:r>
              <a:rPr lang="en-US" dirty="0" err="1"/>
              <a:t>fuer</a:t>
            </a:r>
            <a:r>
              <a:rPr lang="en-US" dirty="0"/>
              <a:t> </a:t>
            </a:r>
            <a:r>
              <a:rPr lang="en-US" dirty="0" err="1"/>
              <a:t>dieNormalisierung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0CF8BB-EBC7-4B8F-9632-A5A136FBB880}" type="slidenum">
              <a:rPr lang="de-DE" smtClean="0"/>
              <a:t>1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14009961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de-DE" b="1" dirty="0"/>
              <a:t>Projektziel:</a:t>
            </a:r>
            <a:endParaRPr lang="de-DE" dirty="0"/>
          </a:p>
          <a:p>
            <a:pPr>
              <a:buFont typeface="Arial" panose="020B0604020202020204" pitchFamily="34" charset="0"/>
              <a:buChar char="•"/>
            </a:pPr>
            <a:r>
              <a:rPr lang="de-DE" dirty="0"/>
              <a:t>„Wir haben typische Herausforderungen der Datenbankentwicklung praxisnah bearbeitet: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dirty="0"/>
              <a:t>Excel-Import,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dirty="0"/>
              <a:t>Normalisierung,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dirty="0"/>
              <a:t>PostgreSQL-Datenbank,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dirty="0"/>
              <a:t>Benutzer- und Rollenverwaltung,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dirty="0"/>
              <a:t>Datensicherheit &amp; Analyse-</a:t>
            </a:r>
            <a:r>
              <a:rPr lang="de-DE" dirty="0" err="1"/>
              <a:t>Queries</a:t>
            </a:r>
            <a:r>
              <a:rPr lang="de-DE" dirty="0"/>
              <a:t>.“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dirty="0"/>
              <a:t>Control Triggers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dirty="0" err="1"/>
              <a:t>Schlußfolgerung</a:t>
            </a:r>
            <a:endParaRPr lang="de-DE" dirty="0"/>
          </a:p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0CF8BB-EBC7-4B8F-9632-A5A136FBB880}" type="slidenum">
              <a:rPr lang="de-DE" noProof="0" smtClean="0"/>
              <a:t>2</a:t>
            </a:fld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777972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0CF8BB-EBC7-4B8F-9632-A5A136FBB880}" type="slidenum">
              <a:rPr lang="de-DE" noProof="0" smtClean="0"/>
              <a:t>3</a:t>
            </a:fld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428736884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Wir sehen hier die </a:t>
            </a:r>
            <a:r>
              <a:rPr lang="en-US" dirty="0"/>
              <a:t>‘Rohe’ </a:t>
            </a:r>
            <a:r>
              <a:rPr lang="en-US" dirty="0" err="1"/>
              <a:t>datei</a:t>
            </a:r>
            <a:r>
              <a:rPr lang="en-US" dirty="0"/>
              <a:t> die </a:t>
            </a:r>
            <a:r>
              <a:rPr lang="en-US" dirty="0" err="1"/>
              <a:t>wir</a:t>
            </a:r>
            <a:r>
              <a:rPr lang="en-US" dirty="0"/>
              <a:t> in 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0CF8BB-EBC7-4B8F-9632-A5A136FBB880}" type="slidenum">
              <a:rPr lang="de-DE" noProof="0" smtClean="0"/>
              <a:t>4</a:t>
            </a:fld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183882716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de-DE" dirty="0"/>
              <a:t>1️⃣ CSV-Datei laden</a:t>
            </a:r>
          </a:p>
          <a:p>
            <a:pPr>
              <a:buNone/>
            </a:pPr>
            <a:r>
              <a:rPr lang="de-DE" dirty="0"/>
              <a:t>➡️ Wir laden die Verkaufsdaten in einen </a:t>
            </a:r>
            <a:r>
              <a:rPr lang="de-DE" dirty="0" err="1"/>
              <a:t>DataFrame</a:t>
            </a:r>
            <a:r>
              <a:rPr lang="de-DE" dirty="0"/>
              <a:t>.</a:t>
            </a:r>
          </a:p>
          <a:p>
            <a:pPr>
              <a:buNone/>
            </a:pPr>
            <a:endParaRPr lang="de-DE" dirty="0"/>
          </a:p>
          <a:p>
            <a:pPr>
              <a:buNone/>
            </a:pPr>
            <a:r>
              <a:rPr lang="de-DE" dirty="0"/>
              <a:t>2️⃣ Funktion zur Umwandlung der Datumswerte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e-DE" b="1" dirty="0" err="1"/>
              <a:t>value</a:t>
            </a:r>
            <a:r>
              <a:rPr lang="de-DE" dirty="0"/>
              <a:t> = eine Zelle aus der Spalte Bestelldatum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e-DE" dirty="0"/>
              <a:t>.</a:t>
            </a:r>
            <a:r>
              <a:rPr lang="de-DE" dirty="0" err="1"/>
              <a:t>strip</a:t>
            </a:r>
            <a:r>
              <a:rPr lang="de-DE" dirty="0"/>
              <a:t>() entfernt überflüssige Leerzeichen.</a:t>
            </a:r>
          </a:p>
          <a:p>
            <a:pPr>
              <a:buNone/>
            </a:pPr>
            <a:endParaRPr lang="de-DE" dirty="0"/>
          </a:p>
          <a:p>
            <a:pPr>
              <a:buNone/>
            </a:pPr>
            <a:r>
              <a:rPr lang="de-DE" b="1" dirty="0"/>
              <a:t>3️⃣ Prüfen &amp; Umwandeln in drei Fällen:</a:t>
            </a:r>
          </a:p>
          <a:p>
            <a:r>
              <a:rPr lang="de-DE" b="1" dirty="0"/>
              <a:t>✅ Fall 1: DD.MM.YYYY</a:t>
            </a:r>
          </a:p>
          <a:p>
            <a:pPr>
              <a:buNone/>
            </a:pPr>
            <a:r>
              <a:rPr lang="de-DE" dirty="0"/>
              <a:t>→ wird zu </a:t>
            </a:r>
            <a:r>
              <a:rPr lang="de-DE" b="1" dirty="0"/>
              <a:t>YYYY.MM&gt;DD </a:t>
            </a:r>
            <a:r>
              <a:rPr lang="de-DE" dirty="0"/>
              <a:t> umgewandelt.</a:t>
            </a:r>
          </a:p>
          <a:p>
            <a:pPr>
              <a:buNone/>
            </a:pPr>
            <a:r>
              <a:rPr lang="de-DE" dirty="0"/>
              <a:t>✅ Fall 2: Bereits ISO-Format YYYY-MM-DD</a:t>
            </a:r>
          </a:p>
          <a:p>
            <a:pPr>
              <a:buNone/>
            </a:pPr>
            <a:r>
              <a:rPr lang="de-DE" dirty="0"/>
              <a:t>➡️ Wenn das Datum schon richtig ist → bleibt es unverändert.</a:t>
            </a:r>
          </a:p>
          <a:p>
            <a:pPr>
              <a:buNone/>
            </a:pPr>
            <a:r>
              <a:rPr lang="de-DE" dirty="0"/>
              <a:t>✅ Fall 3: Datum mit Uhrzeit</a:t>
            </a:r>
          </a:p>
          <a:p>
            <a:pPr>
              <a:buNone/>
            </a:pPr>
            <a:r>
              <a:rPr lang="de-DE" dirty="0"/>
              <a:t>➡️ Wenn Uhrzeit dabei ist → nur das Datum wird behalten.</a:t>
            </a:r>
            <a:br>
              <a:rPr lang="de-DE" dirty="0"/>
            </a:br>
            <a:r>
              <a:rPr lang="de-DE" dirty="0"/>
              <a:t>➡️ Beispiel: </a:t>
            </a:r>
            <a:r>
              <a:rPr lang="de-DE" b="1" dirty="0"/>
              <a:t>2024-12-31 10:30:00</a:t>
            </a:r>
            <a:r>
              <a:rPr lang="de-DE" dirty="0"/>
              <a:t> → wird zu </a:t>
            </a:r>
            <a:r>
              <a:rPr lang="de-DE" b="1" dirty="0"/>
              <a:t>2024-12-314</a:t>
            </a:r>
          </a:p>
          <a:p>
            <a:pPr>
              <a:buNone/>
            </a:pPr>
            <a:endParaRPr lang="de-DE" b="1" dirty="0"/>
          </a:p>
          <a:p>
            <a:pPr>
              <a:buNone/>
            </a:pPr>
            <a:endParaRPr lang="de-DE" b="1" dirty="0"/>
          </a:p>
          <a:p>
            <a:pPr>
              <a:buNone/>
            </a:pPr>
            <a:r>
              <a:rPr lang="de-DE" dirty="0"/>
              <a:t>➡️ Wenn Uhrzeit dabei ist → nur das Datum wird behalten.</a:t>
            </a:r>
            <a:br>
              <a:rPr lang="de-DE" dirty="0"/>
            </a:br>
            <a:r>
              <a:rPr lang="de-DE" dirty="0"/>
              <a:t>➡️ Beispiel: </a:t>
            </a:r>
            <a:r>
              <a:rPr lang="de-DE" b="1" dirty="0"/>
              <a:t>2024-12-31 10:30:00</a:t>
            </a:r>
            <a:r>
              <a:rPr lang="de-DE" dirty="0"/>
              <a:t> → wird zu </a:t>
            </a:r>
            <a:r>
              <a:rPr lang="de-DE" b="1" dirty="0"/>
              <a:t>2024-12-31</a:t>
            </a:r>
          </a:p>
          <a:p>
            <a:pPr>
              <a:buNone/>
            </a:pPr>
            <a:r>
              <a:rPr lang="de-DE" dirty="0"/>
              <a:t>➡️ </a:t>
            </a:r>
            <a:r>
              <a:rPr lang="de-DE" dirty="0" err="1"/>
              <a:t>apply</a:t>
            </a:r>
            <a:r>
              <a:rPr lang="de-DE" dirty="0"/>
              <a:t>() geht jede Zeile durch und ruft </a:t>
            </a:r>
            <a:r>
              <a:rPr lang="de-DE" dirty="0" err="1"/>
              <a:t>parse_datum</a:t>
            </a:r>
            <a:r>
              <a:rPr lang="de-DE" dirty="0"/>
              <a:t>(</a:t>
            </a:r>
            <a:r>
              <a:rPr lang="de-DE" dirty="0" err="1"/>
              <a:t>value</a:t>
            </a:r>
            <a:r>
              <a:rPr lang="de-DE" dirty="0"/>
              <a:t>) auf.</a:t>
            </a:r>
            <a:endParaRPr lang="de-DE" b="1" dirty="0"/>
          </a:p>
          <a:p>
            <a:pPr>
              <a:buNone/>
            </a:pPr>
            <a:endParaRPr lang="de-DE" b="1" dirty="0"/>
          </a:p>
          <a:p>
            <a:pPr>
              <a:buNone/>
            </a:pPr>
            <a:r>
              <a:rPr lang="de-DE" dirty="0"/>
              <a:t>5️⃣ Ergebnis speichern</a:t>
            </a:r>
            <a:endParaRPr lang="de-DE" b="1" dirty="0"/>
          </a:p>
          <a:p>
            <a:pPr>
              <a:buNone/>
            </a:pPr>
            <a:r>
              <a:rPr lang="de-DE" dirty="0"/>
              <a:t>➡️ Die bereinigten Daten werden in eine neue CSV-Datei gespeichert.</a:t>
            </a:r>
          </a:p>
          <a:p>
            <a:pPr>
              <a:buNone/>
            </a:pPr>
            <a:endParaRPr lang="de-DE" b="1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0CF8BB-EBC7-4B8F-9632-A5A136FBB880}" type="slidenum">
              <a:rPr lang="de-DE" noProof="0" smtClean="0"/>
              <a:t>6</a:t>
            </a:fld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232254519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de-DE" sz="1600" b="1" dirty="0"/>
              <a:t>🟡 CONCLUSION (</a:t>
            </a:r>
            <a:r>
              <a:rPr lang="de-DE" sz="1600" b="1" dirty="0" err="1"/>
              <a:t>version</a:t>
            </a:r>
            <a:r>
              <a:rPr lang="de-DE" sz="1600" b="1" dirty="0"/>
              <a:t> </a:t>
            </a:r>
            <a:r>
              <a:rPr lang="de-DE" sz="1600" b="1" dirty="0" err="1"/>
              <a:t>détaillée</a:t>
            </a:r>
            <a:r>
              <a:rPr lang="de-DE" sz="1600" b="1" dirty="0"/>
              <a:t>)</a:t>
            </a:r>
          </a:p>
          <a:p>
            <a:pPr>
              <a:buNone/>
            </a:pPr>
            <a:r>
              <a:rPr lang="de-DE" sz="1600" b="1" dirty="0"/>
              <a:t>Zusammenfassung: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e-DE" sz="1600" dirty="0"/>
              <a:t>„Durch konsequente Normalisierung haben wir die Daten von Redundanzen befreit und eine saubere, relationale Struktur geschaffen. Das war die Basis für alle weiteren Schritte.“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e-DE" sz="1600" dirty="0"/>
              <a:t>„In PostgreSQL haben wir eine Datenbank aufgebaut, in der wir Kunden- und Produktdaten mit Referenzen und </a:t>
            </a:r>
            <a:r>
              <a:rPr lang="de-DE" sz="1600" dirty="0" err="1"/>
              <a:t>Foreign</a:t>
            </a:r>
            <a:r>
              <a:rPr lang="de-DE" sz="1600" dirty="0"/>
              <a:t> Keys sinnvoll verknüpft haben.“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e-DE" sz="1600" dirty="0"/>
              <a:t>„Über die Benutzer- und Rollenverwaltung konnten wir genau steuern, wer welche Daten sehen oder verändern darf. Das erhöht nicht nur die Sicherheit, sondern auch die Nachvollziehbarkeit.“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e-DE" sz="1600" dirty="0"/>
              <a:t>„Mit gezielten Abfragen haben wir dem Datenanalysten die Möglichkeit gegeben, relevante Informationen effizient auszuwerten.“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e-DE" sz="1600" dirty="0"/>
              <a:t>„Schließlich haben wir Kontroll-Trigger eingerichtet, die alle Änderungen protokollieren und so für volle Transparenz sorgen.“</a:t>
            </a:r>
          </a:p>
          <a:p>
            <a:pPr>
              <a:buNone/>
            </a:pPr>
            <a:r>
              <a:rPr lang="de-DE" sz="1600" b="1" dirty="0"/>
              <a:t>Vorteile: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e-DE" sz="1600" dirty="0"/>
              <a:t>„Unsere Lösung sorgt für: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sz="1600" dirty="0"/>
              <a:t>klare Strukturen,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sz="1600" dirty="0"/>
              <a:t>hohe Datensicherheit,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sz="1600" dirty="0"/>
              <a:t>effiziente Analyse-Möglichkeiten,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sz="1600" dirty="0"/>
              <a:t>sowie eine gute Grundlage für Skalierbarkeit in größeren Projekten.“</a:t>
            </a:r>
          </a:p>
          <a:p>
            <a:pPr>
              <a:buNone/>
            </a:pPr>
            <a:r>
              <a:rPr lang="de-DE" sz="1600" b="1" dirty="0"/>
              <a:t>Ausblick / Öffnung zur Reflexion: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e-DE" sz="1600" dirty="0"/>
              <a:t>„Ein Bereich, den wir in diesem Projekt nicht vertieft haben, ist die </a:t>
            </a:r>
            <a:r>
              <a:rPr lang="de-DE" sz="1600" b="1" dirty="0"/>
              <a:t>Performance-Optimierung bei sehr großen Datenmengen</a:t>
            </a:r>
            <a:r>
              <a:rPr lang="de-DE" sz="1600" dirty="0"/>
              <a:t>.</a:t>
            </a:r>
            <a:br>
              <a:rPr lang="de-DE" sz="1600" dirty="0"/>
            </a:br>
            <a:r>
              <a:rPr lang="de-DE" sz="1600" dirty="0"/>
              <a:t>Themen wie </a:t>
            </a:r>
            <a:r>
              <a:rPr lang="de-DE" sz="1600" b="1" dirty="0"/>
              <a:t>Indexierung</a:t>
            </a:r>
            <a:r>
              <a:rPr lang="de-DE" sz="1600" dirty="0"/>
              <a:t>, </a:t>
            </a:r>
            <a:r>
              <a:rPr lang="de-DE" sz="1600" b="1" dirty="0"/>
              <a:t>Query-Optimierung</a:t>
            </a:r>
            <a:r>
              <a:rPr lang="de-DE" sz="1600" dirty="0"/>
              <a:t> oder auch der Einsatz von </a:t>
            </a:r>
            <a:r>
              <a:rPr lang="de-DE" sz="1600" b="1" dirty="0" err="1"/>
              <a:t>Materialized</a:t>
            </a:r>
            <a:r>
              <a:rPr lang="de-DE" sz="1600" b="1" dirty="0"/>
              <a:t> Views</a:t>
            </a:r>
            <a:r>
              <a:rPr lang="de-DE" sz="1600" dirty="0"/>
              <a:t> wären mögliche nächste Schritte.“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e-DE" sz="1600" dirty="0"/>
              <a:t>„Außerdem wäre es spannend, die Datenbank um </a:t>
            </a:r>
            <a:r>
              <a:rPr lang="de-DE" sz="1600" b="1" dirty="0"/>
              <a:t>automatisierte Reports und Dashboards</a:t>
            </a:r>
            <a:r>
              <a:rPr lang="de-DE" sz="1600" dirty="0"/>
              <a:t> zu erweitern, damit nicht nur Analysten, sondern auch andere Abteilungen davon profitieren.“</a:t>
            </a:r>
          </a:p>
          <a:p>
            <a:pPr>
              <a:buNone/>
            </a:pP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0CF8BB-EBC7-4B8F-9632-A5A136FBB880}" type="slidenum">
              <a:rPr lang="de-DE" noProof="0" smtClean="0"/>
              <a:t>30</a:t>
            </a:fld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28535389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>
          <a:xfrm>
            <a:off x="609600" y="755780"/>
            <a:ext cx="6858000" cy="3200400"/>
          </a:xfrm>
        </p:spPr>
        <p:txBody>
          <a:bodyPr rtlCol="0" anchor="b">
            <a:normAutofit/>
          </a:bodyPr>
          <a:lstStyle>
            <a:lvl1pPr algn="l">
              <a:lnSpc>
                <a:spcPct val="75000"/>
              </a:lnSpc>
              <a:defRPr sz="8000">
                <a:solidFill>
                  <a:schemeClr val="bg1"/>
                </a:solidFill>
              </a:defRPr>
            </a:lvl1pPr>
          </a:lstStyle>
          <a:p>
            <a:pPr rtl="0"/>
            <a:r>
              <a:rPr lang="de-DE" noProof="0" dirty="0"/>
              <a:t>Titelmaster-format durch Klicken bearbeiten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609600" y="3956180"/>
            <a:ext cx="6858000" cy="1097280"/>
          </a:xfrm>
        </p:spPr>
        <p:txBody>
          <a:bodyPr rtlCol="0">
            <a:normAutofit/>
          </a:bodyPr>
          <a:lstStyle>
            <a:lvl1pPr marL="0" indent="0" algn="l">
              <a:spcBef>
                <a:spcPts val="0"/>
              </a:spcBef>
              <a:buNone/>
              <a:defRPr sz="2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de-DE" noProof="0"/>
              <a:t>Master-Untertitelformat bearbeiten</a:t>
            </a:r>
            <a:endParaRPr lang="de-DE" noProof="0" dirty="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248B4201-8B90-4FE4-B476-4FFDD434EB03}" type="datetime1">
              <a:rPr lang="de-DE" noProof="0" smtClean="0"/>
              <a:t>14.05.2025</a:t>
            </a:fld>
            <a:endParaRPr lang="de-DE" noProof="0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de-DE" noProof="0" dirty="0"/>
              <a:t>Fußzeile hinzufügen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E31375A4-56A4-47D6-9801-1991572033F7}" type="slidenum">
              <a:rPr lang="de-DE" noProof="0" smtClean="0"/>
              <a:pPr rtl="0"/>
              <a:t>‹Nr.›</a:t>
            </a:fld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7988627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de-DE" noProof="0"/>
              <a:t>Mastertitelformat bearbeiten</a:t>
            </a:r>
            <a:endParaRPr lang="de-DE" noProof="0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lvl="0" rtl="0"/>
            <a:r>
              <a:rPr lang="de-DE" noProof="0"/>
              <a:t>Mastertextformat bearbeiten</a:t>
            </a:r>
          </a:p>
          <a:p>
            <a:pPr lvl="1" rtl="0"/>
            <a:r>
              <a:rPr lang="de-DE" noProof="0"/>
              <a:t>Zweite Ebene</a:t>
            </a:r>
          </a:p>
          <a:p>
            <a:pPr lvl="2" rtl="0"/>
            <a:r>
              <a:rPr lang="de-DE" noProof="0"/>
              <a:t>Dritte Ebene</a:t>
            </a:r>
          </a:p>
          <a:p>
            <a:pPr lvl="3" rtl="0"/>
            <a:r>
              <a:rPr lang="de-DE" noProof="0"/>
              <a:t>Vierte Ebene</a:t>
            </a:r>
          </a:p>
          <a:p>
            <a:pPr lvl="4" rtl="0"/>
            <a:r>
              <a:rPr lang="de-DE" noProof="0"/>
              <a:t>Fünfte Ebene</a:t>
            </a:r>
            <a:endParaRPr lang="de-DE" noProof="0" dirty="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tx2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fld id="{517810AC-902E-4DEC-99E7-60A182C16A2C}" type="datetime1">
              <a:rPr lang="de-DE" noProof="0" smtClean="0"/>
              <a:t>14.05.2025</a:t>
            </a:fld>
            <a:endParaRPr lang="de-DE" noProof="0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tx2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r>
              <a:rPr lang="de-DE" noProof="0" dirty="0"/>
              <a:t>Fußzeile hinzufügen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tx2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fld id="{E31375A4-56A4-47D6-9801-1991572033F7}" type="slidenum">
              <a:rPr lang="de-DE" noProof="0" smtClean="0"/>
              <a:pPr rtl="0"/>
              <a:t>‹Nr.›</a:t>
            </a:fld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31124441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Abschnittsüberschrif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09600" y="822960"/>
            <a:ext cx="8686800" cy="2011680"/>
          </a:xfrm>
        </p:spPr>
        <p:txBody>
          <a:bodyPr rtlCol="0" anchor="b">
            <a:normAutofit/>
          </a:bodyPr>
          <a:lstStyle>
            <a:lvl1pPr>
              <a:defRPr sz="6600"/>
            </a:lvl1pPr>
          </a:lstStyle>
          <a:p>
            <a:pPr rtl="0"/>
            <a:r>
              <a:rPr lang="de-DE" noProof="0"/>
              <a:t>Mastertitelformat bearbeiten</a:t>
            </a:r>
            <a:endParaRPr lang="de-DE" noProof="0" dirty="0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609600" y="2834640"/>
            <a:ext cx="8686800" cy="1097280"/>
          </a:xfrm>
        </p:spPr>
        <p:txBody>
          <a:bodyPr rtlCol="0">
            <a:normAutofit/>
          </a:bodyPr>
          <a:lstStyle>
            <a:lvl1pPr marL="0" indent="0">
              <a:spcBef>
                <a:spcPts val="0"/>
              </a:spcBef>
              <a:buNone/>
              <a:defRPr sz="28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 rtl="0"/>
            <a:r>
              <a:rPr lang="de-DE" noProof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5067780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de-DE" noProof="0"/>
              <a:t>Mastertitelformat bearbeiten</a:t>
            </a:r>
            <a:endParaRPr lang="de-DE" noProof="0" dirty="0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1981200" y="1981200"/>
            <a:ext cx="4572000" cy="4480560"/>
          </a:xfrm>
        </p:spPr>
        <p:txBody>
          <a:bodyPr rtlCol="0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rtl="0"/>
            <a:r>
              <a:rPr lang="de-DE" noProof="0"/>
              <a:t>Mastertextformat bearbeiten</a:t>
            </a:r>
          </a:p>
          <a:p>
            <a:pPr lvl="1" rtl="0"/>
            <a:r>
              <a:rPr lang="de-DE" noProof="0"/>
              <a:t>Zweite Ebene</a:t>
            </a:r>
          </a:p>
          <a:p>
            <a:pPr lvl="2" rtl="0"/>
            <a:r>
              <a:rPr lang="de-DE" noProof="0"/>
              <a:t>Dritte Ebene</a:t>
            </a:r>
          </a:p>
          <a:p>
            <a:pPr lvl="3" rtl="0"/>
            <a:r>
              <a:rPr lang="de-DE" noProof="0"/>
              <a:t>Vierte Ebene</a:t>
            </a:r>
          </a:p>
          <a:p>
            <a:pPr lvl="4" rtl="0"/>
            <a:r>
              <a:rPr lang="de-DE" noProof="0"/>
              <a:t>Fünfte Ebene</a:t>
            </a:r>
            <a:endParaRPr lang="de-DE" noProof="0" dirty="0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781800" y="1981200"/>
            <a:ext cx="4572000" cy="4480560"/>
          </a:xfrm>
        </p:spPr>
        <p:txBody>
          <a:bodyPr rtlCol="0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rtl="0"/>
            <a:r>
              <a:rPr lang="de-DE" noProof="0"/>
              <a:t>Mastertextformat bearbeiten</a:t>
            </a:r>
          </a:p>
          <a:p>
            <a:pPr lvl="1" rtl="0"/>
            <a:r>
              <a:rPr lang="de-DE" noProof="0"/>
              <a:t>Zweite Ebene</a:t>
            </a:r>
          </a:p>
          <a:p>
            <a:pPr lvl="2" rtl="0"/>
            <a:r>
              <a:rPr lang="de-DE" noProof="0"/>
              <a:t>Dritte Ebene</a:t>
            </a:r>
          </a:p>
          <a:p>
            <a:pPr lvl="3" rtl="0"/>
            <a:r>
              <a:rPr lang="de-DE" noProof="0"/>
              <a:t>Vierte Ebene</a:t>
            </a:r>
          </a:p>
          <a:p>
            <a:pPr lvl="4" rtl="0"/>
            <a:r>
              <a:rPr lang="de-DE" noProof="0"/>
              <a:t>Fünfte Ebene</a:t>
            </a:r>
            <a:endParaRPr lang="de-DE" noProof="0" dirty="0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AAF596EA-2D4F-4E91-B75F-445352B00BF6}" type="datetime1">
              <a:rPr lang="de-DE" noProof="0" smtClean="0"/>
              <a:t>14.05.2025</a:t>
            </a:fld>
            <a:endParaRPr lang="de-DE" noProof="0" dirty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de-DE" noProof="0" dirty="0"/>
              <a:t>Fußzeile hinzufügen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E31375A4-56A4-47D6-9801-1991572033F7}" type="slidenum">
              <a:rPr lang="de-DE" noProof="0" smtClean="0"/>
              <a:t>‹Nr.›</a:t>
            </a:fld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40445679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de-DE" noProof="0"/>
              <a:t>Mastertitelformat bearbeiten</a:t>
            </a:r>
            <a:endParaRPr lang="de-DE" noProof="0" dirty="0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1981200" y="1679448"/>
            <a:ext cx="4572000" cy="830487"/>
          </a:xfrm>
        </p:spPr>
        <p:txBody>
          <a:bodyPr rtlCol="0"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de-DE" noProof="0"/>
              <a:t>Mastertextformat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1981200" y="2509935"/>
            <a:ext cx="4572000" cy="3967065"/>
          </a:xfrm>
        </p:spPr>
        <p:txBody>
          <a:bodyPr rtlCol="0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rtl="0"/>
            <a:r>
              <a:rPr lang="de-DE" noProof="0"/>
              <a:t>Mastertextformat bearbeiten</a:t>
            </a:r>
          </a:p>
          <a:p>
            <a:pPr lvl="1" rtl="0"/>
            <a:r>
              <a:rPr lang="de-DE" noProof="0"/>
              <a:t>Zweite Ebene</a:t>
            </a:r>
          </a:p>
          <a:p>
            <a:pPr lvl="2" rtl="0"/>
            <a:r>
              <a:rPr lang="de-DE" noProof="0"/>
              <a:t>Dritte Ebene</a:t>
            </a:r>
          </a:p>
          <a:p>
            <a:pPr lvl="3" rtl="0"/>
            <a:r>
              <a:rPr lang="de-DE" noProof="0"/>
              <a:t>Vierte Ebene</a:t>
            </a:r>
          </a:p>
          <a:p>
            <a:pPr lvl="4" rtl="0"/>
            <a:r>
              <a:rPr lang="de-DE" noProof="0"/>
              <a:t>Fünfte Ebene</a:t>
            </a:r>
            <a:endParaRPr lang="de-DE" noProof="0" dirty="0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6781800" y="1679448"/>
            <a:ext cx="4572000" cy="830487"/>
          </a:xfrm>
        </p:spPr>
        <p:txBody>
          <a:bodyPr rtlCol="0"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de-DE" noProof="0"/>
              <a:t>Mastertextformat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6781800" y="2509935"/>
            <a:ext cx="4572000" cy="3967065"/>
          </a:xfrm>
        </p:spPr>
        <p:txBody>
          <a:bodyPr rtlCol="0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rtl="0"/>
            <a:r>
              <a:rPr lang="de-DE" noProof="0"/>
              <a:t>Mastertextformat bearbeiten</a:t>
            </a:r>
          </a:p>
          <a:p>
            <a:pPr lvl="1" rtl="0"/>
            <a:r>
              <a:rPr lang="de-DE" noProof="0"/>
              <a:t>Zweite Ebene</a:t>
            </a:r>
          </a:p>
          <a:p>
            <a:pPr lvl="2" rtl="0"/>
            <a:r>
              <a:rPr lang="de-DE" noProof="0"/>
              <a:t>Dritte Ebene</a:t>
            </a:r>
          </a:p>
          <a:p>
            <a:pPr lvl="3" rtl="0"/>
            <a:r>
              <a:rPr lang="de-DE" noProof="0"/>
              <a:t>Vierte Ebene</a:t>
            </a:r>
          </a:p>
          <a:p>
            <a:pPr lvl="4" rtl="0"/>
            <a:r>
              <a:rPr lang="de-DE" noProof="0"/>
              <a:t>Fünfte Ebene</a:t>
            </a:r>
            <a:endParaRPr lang="de-DE" noProof="0" dirty="0"/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043C7498-DE73-40BA-8259-7A61304B4A11}" type="datetime1">
              <a:rPr lang="de-DE" noProof="0" smtClean="0"/>
              <a:t>14.05.2025</a:t>
            </a:fld>
            <a:endParaRPr lang="de-DE" noProof="0" dirty="0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de-DE" noProof="0" dirty="0"/>
              <a:t>Fußzeile hinzufügen</a:t>
            </a:r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E31375A4-56A4-47D6-9801-1991572033F7}" type="slidenum">
              <a:rPr lang="de-DE" noProof="0" smtClean="0"/>
              <a:t>‹Nr.›</a:t>
            </a:fld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33979065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de-DE" noProof="0"/>
              <a:t>Mastertitelformat bearbeiten</a:t>
            </a:r>
            <a:endParaRPr lang="de-DE" noProof="0" dirty="0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50BC0BE-60D6-475F-BA14-B2ADC57A2245}" type="datetime1">
              <a:rPr lang="de-DE" noProof="0" smtClean="0"/>
              <a:t>14.05.2025</a:t>
            </a:fld>
            <a:endParaRPr lang="de-DE" noProof="0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de-DE" noProof="0" dirty="0"/>
              <a:t>Fußzeile hinzufügen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E31375A4-56A4-47D6-9801-1991572033F7}" type="slidenum">
              <a:rPr lang="de-DE" noProof="0" smtClean="0"/>
              <a:t>‹Nr.›</a:t>
            </a:fld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32389767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A55A9D48-82C4-43D5-9652-C28047CA9FAA}" type="datetime1">
              <a:rPr lang="de-DE" noProof="0" smtClean="0"/>
              <a:t>14.05.2025</a:t>
            </a:fld>
            <a:endParaRPr lang="de-DE" noProof="0" dirty="0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de-DE" noProof="0" dirty="0"/>
              <a:t>Fußzeile hinzufügen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E31375A4-56A4-47D6-9801-1991572033F7}" type="slidenum">
              <a:rPr lang="de-DE" noProof="0" smtClean="0"/>
              <a:t>‹Nr.›</a:t>
            </a:fld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21468172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Beschriftung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559420" y="408993"/>
            <a:ext cx="4800937" cy="1828800"/>
          </a:xfrm>
        </p:spPr>
        <p:txBody>
          <a:bodyPr rtlCol="0" anchor="b">
            <a:noAutofit/>
          </a:bodyPr>
          <a:lstStyle>
            <a:lvl1pPr>
              <a:defRPr sz="4100" spc="-80" baseline="0"/>
            </a:lvl1pPr>
          </a:lstStyle>
          <a:p>
            <a:pPr rtl="0"/>
            <a:r>
              <a:rPr lang="de-DE" noProof="0"/>
              <a:t>Mastertitelformat bearbeiten</a:t>
            </a:r>
            <a:endParaRPr lang="de-DE" noProof="0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606491" y="381000"/>
            <a:ext cx="5489510" cy="5791200"/>
          </a:xfrm>
        </p:spPr>
        <p:txBody>
          <a:bodyPr rtlCol="0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rtl="0"/>
            <a:r>
              <a:rPr lang="de-DE" noProof="0"/>
              <a:t>Mastertextformat bearbeiten</a:t>
            </a:r>
          </a:p>
          <a:p>
            <a:pPr lvl="1" rtl="0"/>
            <a:r>
              <a:rPr lang="de-DE" noProof="0"/>
              <a:t>Zweite Ebene</a:t>
            </a:r>
          </a:p>
          <a:p>
            <a:pPr lvl="2" rtl="0"/>
            <a:r>
              <a:rPr lang="de-DE" noProof="0"/>
              <a:t>Dritte Ebene</a:t>
            </a:r>
          </a:p>
          <a:p>
            <a:pPr lvl="3" rtl="0"/>
            <a:r>
              <a:rPr lang="de-DE" noProof="0"/>
              <a:t>Vierte Ebene</a:t>
            </a:r>
          </a:p>
          <a:p>
            <a:pPr lvl="4" rtl="0"/>
            <a:r>
              <a:rPr lang="de-DE" noProof="0"/>
              <a:t>Fünfte Ebene</a:t>
            </a:r>
            <a:endParaRPr lang="de-DE" noProof="0" dirty="0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6559420" y="2237793"/>
            <a:ext cx="4800937" cy="1828800"/>
          </a:xfrm>
        </p:spPr>
        <p:txBody>
          <a:bodyPr rtlCol="0">
            <a:normAutofit/>
          </a:bodyPr>
          <a:lstStyle>
            <a:lvl1pPr marL="0" indent="0">
              <a:spcBef>
                <a:spcPts val="1200"/>
              </a:spcBef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de-DE" noProof="0"/>
              <a:t>Mastertextformat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63A1BB5-EA83-4F89-9699-AAA010E19188}" type="datetime1">
              <a:rPr lang="de-DE" noProof="0" smtClean="0"/>
              <a:t>14.05.2025</a:t>
            </a:fld>
            <a:endParaRPr lang="de-DE" noProof="0" dirty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de-DE" noProof="0" dirty="0"/>
              <a:t>Fußzeile hinzufügen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E31375A4-56A4-47D6-9801-1991572033F7}" type="slidenum">
              <a:rPr lang="de-DE" noProof="0" smtClean="0"/>
              <a:t>‹Nr.›</a:t>
            </a:fld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16673741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Beschriftung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/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556248" y="384048"/>
            <a:ext cx="4800600" cy="1828800"/>
          </a:xfrm>
        </p:spPr>
        <p:txBody>
          <a:bodyPr rtlCol="0" anchor="b">
            <a:noAutofit/>
          </a:bodyPr>
          <a:lstStyle>
            <a:lvl1pPr>
              <a:defRPr sz="4100" spc="-80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de-DE" noProof="0"/>
              <a:t>Mastertitelformat bearbeiten</a:t>
            </a:r>
            <a:endParaRPr lang="de-DE" noProof="0" dirty="0"/>
          </a:p>
        </p:txBody>
      </p:sp>
      <p:sp>
        <p:nvSpPr>
          <p:cNvPr id="3" name="Bildplatzhalter 2" descr="Leerer Platzhalter zum Hinzufügen eines Bilds. Klicken Sie auf den Platzhalter, und wählen Sie das hinzuzufügende Bild aus."/>
          <p:cNvSpPr>
            <a:spLocks noGrp="1"/>
          </p:cNvSpPr>
          <p:nvPr>
            <p:ph type="pic" idx="1"/>
          </p:nvPr>
        </p:nvSpPr>
        <p:spPr>
          <a:xfrm>
            <a:off x="0" y="0"/>
            <a:ext cx="6096000" cy="6858000"/>
          </a:xfrm>
          <a:ln>
            <a:noFill/>
          </a:ln>
        </p:spPr>
        <p:txBody>
          <a:bodyPr tIns="457200" rtlCol="0">
            <a:normAutofit/>
          </a:bodyPr>
          <a:lstStyle>
            <a:lvl1pPr marL="0" indent="0" algn="ctr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de-DE" noProof="0"/>
              <a:t>Bild durch Klicken auf Symbol hinzufügen</a:t>
            </a:r>
            <a:endParaRPr lang="de-DE" noProof="0" dirty="0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6556249" y="2240280"/>
            <a:ext cx="4799140" cy="1828800"/>
          </a:xfrm>
        </p:spPr>
        <p:txBody>
          <a:bodyPr rtlCol="0">
            <a:normAutofit/>
          </a:bodyPr>
          <a:lstStyle>
            <a:lvl1pPr marL="0" indent="0">
              <a:spcBef>
                <a:spcPts val="1200"/>
              </a:spcBef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de-DE" noProof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5712004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de-DE" noProof="0"/>
              <a:t>Mastertitelformat bearbeiten</a:t>
            </a:r>
            <a:endParaRPr lang="de-DE" noProof="0" dirty="0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/>
          <a:lstStyle/>
          <a:p>
            <a:pPr lvl="0" rtl="0"/>
            <a:r>
              <a:rPr lang="de-DE" noProof="0"/>
              <a:t>Mastertextformat bearbeiten</a:t>
            </a:r>
          </a:p>
          <a:p>
            <a:pPr lvl="1" rtl="0"/>
            <a:r>
              <a:rPr lang="de-DE" noProof="0"/>
              <a:t>Zweite Ebene</a:t>
            </a:r>
          </a:p>
          <a:p>
            <a:pPr lvl="2" rtl="0"/>
            <a:r>
              <a:rPr lang="de-DE" noProof="0"/>
              <a:t>Dritte Ebene</a:t>
            </a:r>
          </a:p>
          <a:p>
            <a:pPr lvl="3" rtl="0"/>
            <a:r>
              <a:rPr lang="de-DE" noProof="0"/>
              <a:t>Vierte Ebene</a:t>
            </a:r>
          </a:p>
          <a:p>
            <a:pPr lvl="4" rtl="0"/>
            <a:r>
              <a:rPr lang="de-DE" noProof="0"/>
              <a:t>Fünfte Ebene</a:t>
            </a:r>
            <a:endParaRPr lang="de-DE" noProof="0" dirty="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1CFBF31-2E67-4300-8101-A0ED991CFD6C}" type="datetime1">
              <a:rPr lang="de-DE" noProof="0" smtClean="0"/>
              <a:t>14.05.2025</a:t>
            </a:fld>
            <a:endParaRPr lang="de-DE" noProof="0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de-DE" noProof="0" dirty="0"/>
              <a:t>Fußzeile hinzufügen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E31375A4-56A4-47D6-9801-1991572033F7}" type="slidenum">
              <a:rPr lang="de-DE" noProof="0" smtClean="0"/>
              <a:t>‹Nr.›</a:t>
            </a:fld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24771542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9342120" y="380999"/>
            <a:ext cx="2011680" cy="6096001"/>
          </a:xfrm>
        </p:spPr>
        <p:txBody>
          <a:bodyPr vert="eaVert" rtlCol="0"/>
          <a:lstStyle>
            <a:lvl1pPr>
              <a:defRPr/>
            </a:lvl1pPr>
          </a:lstStyle>
          <a:p>
            <a:pPr rtl="0"/>
            <a:r>
              <a:rPr lang="de-DE" noProof="0"/>
              <a:t>Mastertitelformat bearbeiten</a:t>
            </a:r>
            <a:endParaRPr lang="de-DE" noProof="0" dirty="0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1981199" y="380999"/>
            <a:ext cx="7074859" cy="6096001"/>
          </a:xfrm>
        </p:spPr>
        <p:txBody>
          <a:bodyPr vert="eaVert" rtlCol="0"/>
          <a:lstStyle/>
          <a:p>
            <a:pPr lvl="0" rtl="0"/>
            <a:r>
              <a:rPr lang="de-DE" noProof="0"/>
              <a:t>Mastertextformat bearbeiten</a:t>
            </a:r>
          </a:p>
          <a:p>
            <a:pPr lvl="1" rtl="0"/>
            <a:r>
              <a:rPr lang="de-DE" noProof="0"/>
              <a:t>Zweite Ebene</a:t>
            </a:r>
          </a:p>
          <a:p>
            <a:pPr lvl="2" rtl="0"/>
            <a:r>
              <a:rPr lang="de-DE" noProof="0"/>
              <a:t>Dritte Ebene</a:t>
            </a:r>
          </a:p>
          <a:p>
            <a:pPr lvl="3" rtl="0"/>
            <a:r>
              <a:rPr lang="de-DE" noProof="0"/>
              <a:t>Vierte Ebene</a:t>
            </a:r>
          </a:p>
          <a:p>
            <a:pPr lvl="4" rtl="0"/>
            <a:r>
              <a:rPr lang="de-DE" noProof="0"/>
              <a:t>Fünfte Ebene</a:t>
            </a:r>
            <a:endParaRPr lang="de-DE" noProof="0" dirty="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045F7D65-2C86-423A-B61F-8093B607745C}" type="datetime1">
              <a:rPr lang="de-DE" noProof="0" smtClean="0"/>
              <a:t>14.05.2025</a:t>
            </a:fld>
            <a:endParaRPr lang="de-DE" noProof="0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de-DE" noProof="0" dirty="0"/>
              <a:t>Fußzeile hinzufügen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E31375A4-56A4-47D6-9801-1991572033F7}" type="slidenum">
              <a:rPr lang="de-DE" noProof="0" smtClean="0"/>
              <a:t>‹Nr.›</a:t>
            </a:fld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2524635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1981200" y="381000"/>
            <a:ext cx="9372600" cy="12954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de-DE" noProof="0" dirty="0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1981200" y="1987419"/>
            <a:ext cx="9372600" cy="44831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de-DE" noProof="0" dirty="0"/>
              <a:t>Textmasterformat durch Klicken bearbeiten</a:t>
            </a:r>
          </a:p>
          <a:p>
            <a:pPr lvl="1" rtl="0"/>
            <a:r>
              <a:rPr lang="de-DE" noProof="0" dirty="0"/>
              <a:t>Zweite Ebene</a:t>
            </a:r>
          </a:p>
          <a:p>
            <a:pPr lvl="2" rtl="0"/>
            <a:r>
              <a:rPr lang="de-DE" noProof="0" dirty="0"/>
              <a:t>Dritte Ebene</a:t>
            </a:r>
          </a:p>
          <a:p>
            <a:pPr lvl="3" rtl="0"/>
            <a:r>
              <a:rPr lang="de-DE" noProof="0" dirty="0"/>
              <a:t>Vierte Ebene</a:t>
            </a:r>
          </a:p>
          <a:p>
            <a:pPr lvl="4" rtl="0"/>
            <a:r>
              <a:rPr lang="de-DE" noProof="0" dirty="0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11631790" y="5586761"/>
            <a:ext cx="280731" cy="883759"/>
          </a:xfrm>
          <a:prstGeom prst="rect">
            <a:avLst/>
          </a:prstGeom>
        </p:spPr>
        <p:txBody>
          <a:bodyPr vert="vert270" lIns="91440" tIns="45720" rIns="91440" bIns="45720" rtlCol="0" anchor="ctr"/>
          <a:lstStyle>
            <a:lvl1pPr algn="l">
              <a:defRPr sz="1200">
                <a:solidFill>
                  <a:schemeClr val="tx2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fld id="{4FD62CBB-C65F-4197-AAF7-F362E3DD9BD2}" type="datetime1">
              <a:rPr lang="de-DE" noProof="0" smtClean="0"/>
              <a:t>14.05.2025</a:t>
            </a:fld>
            <a:endParaRPr lang="de-DE" noProof="0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11631790" y="365125"/>
            <a:ext cx="280730" cy="5139936"/>
          </a:xfrm>
          <a:prstGeom prst="rect">
            <a:avLst/>
          </a:prstGeom>
        </p:spPr>
        <p:txBody>
          <a:bodyPr vert="vert270" lIns="91440" tIns="45720" rIns="91440" bIns="45720" rtlCol="0" anchor="ctr"/>
          <a:lstStyle>
            <a:lvl1pPr algn="ctr">
              <a:defRPr sz="1200">
                <a:solidFill>
                  <a:schemeClr val="tx2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r>
              <a:rPr lang="de-DE" noProof="0" dirty="0"/>
              <a:t>Fußzeile hinzufügen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313321" y="6268940"/>
            <a:ext cx="722377" cy="2015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fld id="{E31375A4-56A4-47D6-9801-1991572033F7}" type="slidenum">
              <a:rPr lang="de-DE" noProof="0" smtClean="0"/>
              <a:pPr rtl="0"/>
              <a:t>‹Nr.›</a:t>
            </a:fld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19432598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kern="1200" cap="all" baseline="0">
          <a:solidFill>
            <a:schemeClr val="accent1">
              <a:lumMod val="50000"/>
            </a:schemeClr>
          </a:solidFill>
          <a:latin typeface="+mj-lt"/>
          <a:ea typeface="+mj-ea"/>
          <a:cs typeface="+mj-cs"/>
        </a:defRPr>
      </a:lvl1pPr>
    </p:titleStyle>
    <p:bodyStyle>
      <a:lvl1pPr marL="274320" indent="-274320" algn="l" defTabSz="914400" rtl="0" eaLnBrk="1" latinLnBrk="0" hangingPunct="1">
        <a:lnSpc>
          <a:spcPct val="90000"/>
        </a:lnSpc>
        <a:spcBef>
          <a:spcPts val="1800"/>
        </a:spcBef>
        <a:buSzPct val="100000"/>
        <a:buFont typeface="Arial" pitchFamily="34" charset="0"/>
        <a:buChar char="▪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74320" algn="l" defTabSz="914400" rtl="0" eaLnBrk="1" latinLnBrk="0" hangingPunct="1">
        <a:lnSpc>
          <a:spcPct val="90000"/>
        </a:lnSpc>
        <a:spcBef>
          <a:spcPts val="1200"/>
        </a:spcBef>
        <a:buSzPct val="100000"/>
        <a:buFont typeface="Arial" pitchFamily="34" charset="0"/>
        <a:buChar char="▪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05840" indent="-228600" algn="l" defTabSz="914400" rtl="0" eaLnBrk="1" latinLnBrk="0" hangingPunct="1">
        <a:lnSpc>
          <a:spcPct val="90000"/>
        </a:lnSpc>
        <a:spcBef>
          <a:spcPts val="800"/>
        </a:spcBef>
        <a:buSzPct val="100000"/>
        <a:buFont typeface="Arial" pitchFamily="34" charset="0"/>
        <a:buChar char="▪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34440" indent="-18288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Arial" pitchFamily="34" charset="0"/>
        <a:buChar char="▪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18288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Arial" pitchFamily="34" charset="0"/>
        <a:buChar char="▪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91640" indent="-18288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Arial" pitchFamily="34" charset="0"/>
        <a:buChar char="▪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874520" indent="-18288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Arial" pitchFamily="34" charset="0"/>
        <a:buChar char="▪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103120" indent="-18288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Arial" pitchFamily="34" charset="0"/>
        <a:buChar char="▪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331720" indent="-18288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Arial" pitchFamily="34" charset="0"/>
        <a:buChar char="▪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13" Type="http://schemas.openxmlformats.org/officeDocument/2006/relationships/image" Target="../media/image16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12" Type="http://schemas.openxmlformats.org/officeDocument/2006/relationships/image" Target="../media/image15.sv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19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sv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5" Type="http://schemas.openxmlformats.org/officeDocument/2006/relationships/image" Target="../media/image18.png"/><Relationship Id="rId10" Type="http://schemas.openxmlformats.org/officeDocument/2006/relationships/image" Target="../media/image13.svg"/><Relationship Id="rId4" Type="http://schemas.openxmlformats.org/officeDocument/2006/relationships/image" Target="../media/image7.svg"/><Relationship Id="rId9" Type="http://schemas.openxmlformats.org/officeDocument/2006/relationships/image" Target="../media/image12.png"/><Relationship Id="rId14" Type="http://schemas.openxmlformats.org/officeDocument/2006/relationships/image" Target="../media/image17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5.svg"/><Relationship Id="rId4" Type="http://schemas.openxmlformats.org/officeDocument/2006/relationships/image" Target="../media/image3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sv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svg"/><Relationship Id="rId3" Type="http://schemas.openxmlformats.org/officeDocument/2006/relationships/image" Target="../media/image40.png"/><Relationship Id="rId7" Type="http://schemas.openxmlformats.org/officeDocument/2006/relationships/image" Target="../media/image44.png"/><Relationship Id="rId12" Type="http://schemas.openxmlformats.org/officeDocument/2006/relationships/image" Target="../media/image49.sv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svg"/><Relationship Id="rId11" Type="http://schemas.openxmlformats.org/officeDocument/2006/relationships/image" Target="../media/image48.png"/><Relationship Id="rId5" Type="http://schemas.openxmlformats.org/officeDocument/2006/relationships/image" Target="../media/image42.png"/><Relationship Id="rId10" Type="http://schemas.openxmlformats.org/officeDocument/2006/relationships/image" Target="../media/image47.svg"/><Relationship Id="rId4" Type="http://schemas.openxmlformats.org/officeDocument/2006/relationships/image" Target="../media/image41.png"/><Relationship Id="rId9" Type="http://schemas.openxmlformats.org/officeDocument/2006/relationships/image" Target="../media/image46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png"/><Relationship Id="rId3" Type="http://schemas.openxmlformats.org/officeDocument/2006/relationships/image" Target="../media/image42.png"/><Relationship Id="rId7" Type="http://schemas.openxmlformats.org/officeDocument/2006/relationships/image" Target="../media/image53.png"/><Relationship Id="rId12" Type="http://schemas.openxmlformats.org/officeDocument/2006/relationships/image" Target="../media/image58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2.svg"/><Relationship Id="rId11" Type="http://schemas.openxmlformats.org/officeDocument/2006/relationships/image" Target="../media/image57.svg"/><Relationship Id="rId5" Type="http://schemas.openxmlformats.org/officeDocument/2006/relationships/image" Target="../media/image51.png"/><Relationship Id="rId10" Type="http://schemas.openxmlformats.org/officeDocument/2006/relationships/image" Target="../media/image56.png"/><Relationship Id="rId4" Type="http://schemas.openxmlformats.org/officeDocument/2006/relationships/image" Target="../media/image43.svg"/><Relationship Id="rId9" Type="http://schemas.openxmlformats.org/officeDocument/2006/relationships/image" Target="../media/image55.sv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2.png"/><Relationship Id="rId4" Type="http://schemas.openxmlformats.org/officeDocument/2006/relationships/image" Target="../media/image35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svg"/><Relationship Id="rId7" Type="http://schemas.openxmlformats.org/officeDocument/2006/relationships/image" Target="../media/image68.sv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7.png"/><Relationship Id="rId5" Type="http://schemas.openxmlformats.org/officeDocument/2006/relationships/image" Target="../media/image66.svg"/><Relationship Id="rId4" Type="http://schemas.openxmlformats.org/officeDocument/2006/relationships/image" Target="../media/image6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6.sv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7" Type="http://schemas.openxmlformats.org/officeDocument/2006/relationships/image" Target="../media/image68.sv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7.png"/><Relationship Id="rId5" Type="http://schemas.openxmlformats.org/officeDocument/2006/relationships/image" Target="../media/image35.svg"/><Relationship Id="rId4" Type="http://schemas.openxmlformats.org/officeDocument/2006/relationships/image" Target="../media/image3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svg"/><Relationship Id="rId7" Type="http://schemas.openxmlformats.org/officeDocument/2006/relationships/image" Target="../media/image73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5.svg"/><Relationship Id="rId5" Type="http://schemas.openxmlformats.org/officeDocument/2006/relationships/image" Target="../media/image34.png"/><Relationship Id="rId4" Type="http://schemas.openxmlformats.org/officeDocument/2006/relationships/image" Target="../media/image7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7" Type="http://schemas.openxmlformats.org/officeDocument/2006/relationships/image" Target="../media/image77.sv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6.png"/><Relationship Id="rId5" Type="http://schemas.openxmlformats.org/officeDocument/2006/relationships/image" Target="../media/image35.svg"/><Relationship Id="rId4" Type="http://schemas.openxmlformats.org/officeDocument/2006/relationships/image" Target="../media/image3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5.sv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svg"/><Relationship Id="rId7" Type="http://schemas.openxmlformats.org/officeDocument/2006/relationships/image" Target="../media/image86.svg"/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85.png"/><Relationship Id="rId5" Type="http://schemas.openxmlformats.org/officeDocument/2006/relationships/image" Target="../media/image84.svg"/><Relationship Id="rId4" Type="http://schemas.openxmlformats.org/officeDocument/2006/relationships/image" Target="../media/image8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82.sv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svg"/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88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86.sv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6.svg"/><Relationship Id="rId3" Type="http://schemas.openxmlformats.org/officeDocument/2006/relationships/image" Target="../media/image91.png"/><Relationship Id="rId7" Type="http://schemas.openxmlformats.org/officeDocument/2006/relationships/image" Target="../media/image85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92.png"/><Relationship Id="rId5" Type="http://schemas.openxmlformats.org/officeDocument/2006/relationships/image" Target="../media/image35.svg"/><Relationship Id="rId4" Type="http://schemas.openxmlformats.org/officeDocument/2006/relationships/image" Target="../media/image34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png"/><Relationship Id="rId7" Type="http://schemas.openxmlformats.org/officeDocument/2006/relationships/image" Target="../media/image86.svg"/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85.png"/><Relationship Id="rId5" Type="http://schemas.openxmlformats.org/officeDocument/2006/relationships/image" Target="../media/image35.svg"/><Relationship Id="rId4" Type="http://schemas.openxmlformats.org/officeDocument/2006/relationships/image" Target="../media/image34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13" Type="http://schemas.openxmlformats.org/officeDocument/2006/relationships/image" Target="../media/image85.png"/><Relationship Id="rId3" Type="http://schemas.openxmlformats.org/officeDocument/2006/relationships/image" Target="../media/image95.png"/><Relationship Id="rId7" Type="http://schemas.openxmlformats.org/officeDocument/2006/relationships/image" Target="../media/image14.png"/><Relationship Id="rId12" Type="http://schemas.openxmlformats.org/officeDocument/2006/relationships/image" Target="../media/image17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9.svg"/><Relationship Id="rId11" Type="http://schemas.openxmlformats.org/officeDocument/2006/relationships/image" Target="../media/image16.png"/><Relationship Id="rId5" Type="http://schemas.openxmlformats.org/officeDocument/2006/relationships/image" Target="../media/image8.png"/><Relationship Id="rId10" Type="http://schemas.openxmlformats.org/officeDocument/2006/relationships/image" Target="../media/image82.svg"/><Relationship Id="rId4" Type="http://schemas.openxmlformats.org/officeDocument/2006/relationships/image" Target="../media/image96.svg"/><Relationship Id="rId9" Type="http://schemas.openxmlformats.org/officeDocument/2006/relationships/image" Target="../media/image81.png"/><Relationship Id="rId14" Type="http://schemas.openxmlformats.org/officeDocument/2006/relationships/image" Target="../media/image86.sv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211095" y="2199462"/>
            <a:ext cx="7490254" cy="2185086"/>
          </a:xfrm>
        </p:spPr>
        <p:txBody>
          <a:bodyPr rtlCol="0">
            <a:normAutofit fontScale="90000"/>
          </a:bodyPr>
          <a:lstStyle/>
          <a:p>
            <a:pPr rtl="0"/>
            <a:br>
              <a:rPr lang="de-DE" dirty="0"/>
            </a:br>
            <a:r>
              <a:rPr lang="de-DE" dirty="0"/>
              <a:t>SQL-PROJEKT</a:t>
            </a:r>
            <a:br>
              <a:rPr lang="de-DE" dirty="0"/>
            </a:br>
            <a:r>
              <a:rPr lang="de-DE" dirty="0"/>
              <a:t>Normalisierung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211095" y="6124750"/>
            <a:ext cx="6738551" cy="589087"/>
          </a:xfrm>
        </p:spPr>
        <p:txBody>
          <a:bodyPr rtlCol="0">
            <a:normAutofit/>
          </a:bodyPr>
          <a:lstStyle/>
          <a:p>
            <a:pPr rtl="0"/>
            <a:r>
              <a:rPr lang="de-DE" sz="2000" dirty="0"/>
              <a:t>Jan </a:t>
            </a:r>
            <a:r>
              <a:rPr lang="de-DE" sz="2000" dirty="0" err="1"/>
              <a:t>Ansperger</a:t>
            </a:r>
            <a:r>
              <a:rPr lang="de-DE" sz="2000" dirty="0"/>
              <a:t>, Mario Förster, Sarah Leibach, Alexander Leypold</a:t>
            </a:r>
          </a:p>
        </p:txBody>
      </p:sp>
    </p:spTree>
    <p:extLst>
      <p:ext uri="{BB962C8B-B14F-4D97-AF65-F5344CB8AC3E}">
        <p14:creationId xmlns:p14="http://schemas.microsoft.com/office/powerpoint/2010/main" val="24132519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de-DE" dirty="0"/>
              <a:t>Roadmap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rtl="0"/>
            <a:r>
              <a:rPr lang="de-DE" dirty="0"/>
              <a:t>AUFGABE 1 : Excel Imports </a:t>
            </a:r>
            <a:r>
              <a:rPr lang="en-US" dirty="0"/>
              <a:t>&amp;</a:t>
            </a:r>
            <a:r>
              <a:rPr lang="de-DE" dirty="0"/>
              <a:t> Normalisierung </a:t>
            </a:r>
          </a:p>
          <a:p>
            <a:pPr rtl="0"/>
            <a:r>
              <a:rPr lang="de-DE" dirty="0"/>
              <a:t>AUFGABE 2 : </a:t>
            </a:r>
            <a:r>
              <a:rPr lang="de-DE" dirty="0" err="1"/>
              <a:t>Postgres</a:t>
            </a:r>
            <a:r>
              <a:rPr lang="de-DE" dirty="0"/>
              <a:t> Datenbank &amp; Imports </a:t>
            </a:r>
          </a:p>
          <a:p>
            <a:pPr rtl="0"/>
            <a:r>
              <a:rPr lang="de-DE" dirty="0"/>
              <a:t>AUFGABE 3 : Users &amp; </a:t>
            </a:r>
            <a:r>
              <a:rPr lang="de-DE" dirty="0" err="1"/>
              <a:t>Roles</a:t>
            </a:r>
            <a:endParaRPr lang="de-DE" dirty="0"/>
          </a:p>
          <a:p>
            <a:pPr rtl="0"/>
            <a:r>
              <a:rPr lang="de-DE" dirty="0"/>
              <a:t>AUFGABE 4 : Datensicherheit </a:t>
            </a:r>
          </a:p>
          <a:p>
            <a:pPr rtl="0"/>
            <a:r>
              <a:rPr lang="de-DE" dirty="0"/>
              <a:t>AUFGABE 5 : Datenanalyst </a:t>
            </a:r>
            <a:r>
              <a:rPr lang="de-DE" dirty="0" err="1"/>
              <a:t>Queries</a:t>
            </a:r>
            <a:endParaRPr lang="de-DE" dirty="0"/>
          </a:p>
          <a:p>
            <a:pPr rtl="0"/>
            <a:r>
              <a:rPr lang="de-DE" dirty="0"/>
              <a:t>AUFGABE 6 : Control Triggers </a:t>
            </a:r>
          </a:p>
          <a:p>
            <a:pPr rtl="0"/>
            <a:r>
              <a:rPr lang="de-DE" dirty="0"/>
              <a:t>AUFGABE 7 : </a:t>
            </a:r>
            <a:r>
              <a:rPr lang="de-DE" dirty="0" err="1"/>
              <a:t>Schlußfolgerung</a:t>
            </a:r>
            <a:endParaRPr lang="de-DE" dirty="0"/>
          </a:p>
        </p:txBody>
      </p:sp>
      <p:pic>
        <p:nvPicPr>
          <p:cNvPr id="5" name="Grafik 4" descr="Tabelle mit einfarbiger Füllung">
            <a:extLst>
              <a:ext uri="{FF2B5EF4-FFF2-40B4-BE49-F238E27FC236}">
                <a16:creationId xmlns:a16="http://schemas.microsoft.com/office/drawing/2014/main" id="{80DA7BFC-54D4-A6D2-1570-D0FE5C1E49A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14012" y="1868297"/>
            <a:ext cx="573641" cy="573641"/>
          </a:xfrm>
          <a:prstGeom prst="rect">
            <a:avLst/>
          </a:prstGeom>
        </p:spPr>
      </p:pic>
      <p:pic>
        <p:nvPicPr>
          <p:cNvPr id="9" name="Grafik 8" descr="Datenbank Silhouette">
            <a:extLst>
              <a:ext uri="{FF2B5EF4-FFF2-40B4-BE49-F238E27FC236}">
                <a16:creationId xmlns:a16="http://schemas.microsoft.com/office/drawing/2014/main" id="{3FF7726C-C005-C6CE-14A8-5B60DAE012B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914011" y="2398159"/>
            <a:ext cx="573641" cy="573641"/>
          </a:xfrm>
          <a:prstGeom prst="rect">
            <a:avLst/>
          </a:prstGeom>
        </p:spPr>
      </p:pic>
      <p:pic>
        <p:nvPicPr>
          <p:cNvPr id="11" name="Grafik 10" descr="Männliches Profil Silhouette">
            <a:extLst>
              <a:ext uri="{FF2B5EF4-FFF2-40B4-BE49-F238E27FC236}">
                <a16:creationId xmlns:a16="http://schemas.microsoft.com/office/drawing/2014/main" id="{3FA73BBF-61DC-B48B-B6E7-0C9547F6F05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316307" y="2971800"/>
            <a:ext cx="573641" cy="573641"/>
          </a:xfrm>
          <a:prstGeom prst="rect">
            <a:avLst/>
          </a:prstGeom>
        </p:spPr>
      </p:pic>
      <p:pic>
        <p:nvPicPr>
          <p:cNvPr id="13" name="Grafik 12" descr="Weibliches Profil Silhouette">
            <a:extLst>
              <a:ext uri="{FF2B5EF4-FFF2-40B4-BE49-F238E27FC236}">
                <a16:creationId xmlns:a16="http://schemas.microsoft.com/office/drawing/2014/main" id="{A7ADC5C6-D6C7-FEC0-9B6C-A21DDE42479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920026" y="2971800"/>
            <a:ext cx="573641" cy="573641"/>
          </a:xfrm>
          <a:prstGeom prst="rect">
            <a:avLst/>
          </a:prstGeom>
        </p:spPr>
      </p:pic>
      <p:pic>
        <p:nvPicPr>
          <p:cNvPr id="15" name="Grafik 14" descr="Entsperren Silhouette">
            <a:extLst>
              <a:ext uri="{FF2B5EF4-FFF2-40B4-BE49-F238E27FC236}">
                <a16:creationId xmlns:a16="http://schemas.microsoft.com/office/drawing/2014/main" id="{F7C7CA07-096A-AEA7-3D87-0038F0A1551F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293368" y="3631917"/>
            <a:ext cx="487165" cy="487165"/>
          </a:xfrm>
          <a:prstGeom prst="rect">
            <a:avLst/>
          </a:prstGeom>
        </p:spPr>
      </p:pic>
      <p:pic>
        <p:nvPicPr>
          <p:cNvPr id="21" name="Grafik 20" descr="Lupe Silhouette">
            <a:extLst>
              <a:ext uri="{FF2B5EF4-FFF2-40B4-BE49-F238E27FC236}">
                <a16:creationId xmlns:a16="http://schemas.microsoft.com/office/drawing/2014/main" id="{1B6479BB-3322-373C-0C34-3588A7B1D596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7375993" y="4215831"/>
            <a:ext cx="401545" cy="401545"/>
          </a:xfrm>
          <a:prstGeom prst="rect">
            <a:avLst/>
          </a:prstGeom>
        </p:spPr>
      </p:pic>
      <p:pic>
        <p:nvPicPr>
          <p:cNvPr id="23" name="Grafik 22" descr="Prüfliste Silhouette">
            <a:extLst>
              <a:ext uri="{FF2B5EF4-FFF2-40B4-BE49-F238E27FC236}">
                <a16:creationId xmlns:a16="http://schemas.microsoft.com/office/drawing/2014/main" id="{2068CDC5-FD52-195B-2F90-84BC7DDD8E23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7330612" y="4668746"/>
            <a:ext cx="503433" cy="503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33326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1669692-E7AB-57CA-EFEA-CF0FBF9885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pic>
        <p:nvPicPr>
          <p:cNvPr id="5" name="Inhaltsplatzhalter 4" descr="Ein Bild, das Electric Blue (Farbe), Grafiken, Logo, Schrift enthält.">
            <a:extLst>
              <a:ext uri="{FF2B5EF4-FFF2-40B4-BE49-F238E27FC236}">
                <a16:creationId xmlns:a16="http://schemas.microsoft.com/office/drawing/2014/main" id="{49B0DE82-EEB7-4B6D-DC86-0B870766090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1966" y="505184"/>
            <a:ext cx="8957724" cy="5971816"/>
          </a:xfrm>
        </p:spPr>
      </p:pic>
    </p:spTree>
    <p:extLst>
      <p:ext uri="{BB962C8B-B14F-4D97-AF65-F5344CB8AC3E}">
        <p14:creationId xmlns:p14="http://schemas.microsoft.com/office/powerpoint/2010/main" val="16420363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5FC2A6C-CD9E-700B-3EE1-28F9826682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5609" y="210688"/>
            <a:ext cx="10218336" cy="1295400"/>
          </a:xfrm>
        </p:spPr>
        <p:txBody>
          <a:bodyPr/>
          <a:lstStyle/>
          <a:p>
            <a:r>
              <a:rPr lang="de-DE" dirty="0"/>
              <a:t>1.excel Imports </a:t>
            </a:r>
            <a:r>
              <a:rPr lang="en-US" dirty="0"/>
              <a:t>&amp;</a:t>
            </a:r>
            <a:r>
              <a:rPr lang="de-DE" dirty="0"/>
              <a:t> Normalisierung 1/3</a:t>
            </a:r>
          </a:p>
        </p:txBody>
      </p:sp>
      <p:pic>
        <p:nvPicPr>
          <p:cNvPr id="18" name="Grafik 17">
            <a:extLst>
              <a:ext uri="{FF2B5EF4-FFF2-40B4-BE49-F238E27FC236}">
                <a16:creationId xmlns:a16="http://schemas.microsoft.com/office/drawing/2014/main" id="{74E39B6C-7022-6166-BD19-3D7448A25C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1031" y="1781483"/>
            <a:ext cx="6655769" cy="4218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02505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93D9F3C-CDFD-550C-5F54-DEF88D3E79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8212" y="268106"/>
            <a:ext cx="10312179" cy="1295400"/>
          </a:xfrm>
        </p:spPr>
        <p:txBody>
          <a:bodyPr/>
          <a:lstStyle/>
          <a:p>
            <a:r>
              <a:rPr lang="de-DE" dirty="0"/>
              <a:t>1.excel Imports </a:t>
            </a:r>
            <a:r>
              <a:rPr lang="en-US" dirty="0"/>
              <a:t>&amp;</a:t>
            </a:r>
            <a:r>
              <a:rPr lang="de-DE" dirty="0"/>
              <a:t> Normalisierung 2/3</a:t>
            </a:r>
          </a:p>
        </p:txBody>
      </p:sp>
      <p:pic>
        <p:nvPicPr>
          <p:cNvPr id="5" name="Inhaltsplatzhalter 4">
            <a:extLst>
              <a:ext uri="{FF2B5EF4-FFF2-40B4-BE49-F238E27FC236}">
                <a16:creationId xmlns:a16="http://schemas.microsoft.com/office/drawing/2014/main" id="{639C0F7B-683F-C588-FEEC-60019DEA535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12599" b="7352"/>
          <a:stretch/>
        </p:blipFill>
        <p:spPr>
          <a:xfrm>
            <a:off x="794299" y="1743456"/>
            <a:ext cx="2377646" cy="1018746"/>
          </a:xfrm>
        </p:spPr>
      </p:pic>
      <p:pic>
        <p:nvPicPr>
          <p:cNvPr id="18" name="Grafik 17">
            <a:extLst>
              <a:ext uri="{FF2B5EF4-FFF2-40B4-BE49-F238E27FC236}">
                <a16:creationId xmlns:a16="http://schemas.microsoft.com/office/drawing/2014/main" id="{2ADB1158-FAE0-3DE2-50A6-83933ADE864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605" r="3041"/>
          <a:stretch/>
        </p:blipFill>
        <p:spPr>
          <a:xfrm>
            <a:off x="7633679" y="3928787"/>
            <a:ext cx="4276712" cy="731761"/>
          </a:xfrm>
          <a:prstGeom prst="rect">
            <a:avLst/>
          </a:prstGeom>
        </p:spPr>
      </p:pic>
      <p:cxnSp>
        <p:nvCxnSpPr>
          <p:cNvPr id="20" name="Gerade Verbindung mit Pfeil 19">
            <a:extLst>
              <a:ext uri="{FF2B5EF4-FFF2-40B4-BE49-F238E27FC236}">
                <a16:creationId xmlns:a16="http://schemas.microsoft.com/office/drawing/2014/main" id="{970D1F75-820C-9447-5F78-2F242D6A11B3}"/>
              </a:ext>
            </a:extLst>
          </p:cNvPr>
          <p:cNvCxnSpPr>
            <a:cxnSpLocks/>
          </p:cNvCxnSpPr>
          <p:nvPr/>
        </p:nvCxnSpPr>
        <p:spPr>
          <a:xfrm>
            <a:off x="6155445" y="2609373"/>
            <a:ext cx="1239268" cy="11833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Gerade Verbindung mit Pfeil 23">
            <a:extLst>
              <a:ext uri="{FF2B5EF4-FFF2-40B4-BE49-F238E27FC236}">
                <a16:creationId xmlns:a16="http://schemas.microsoft.com/office/drawing/2014/main" id="{D46F55C9-E121-1DD8-958B-916AC15E6DF4}"/>
              </a:ext>
            </a:extLst>
          </p:cNvPr>
          <p:cNvCxnSpPr>
            <a:cxnSpLocks/>
          </p:cNvCxnSpPr>
          <p:nvPr/>
        </p:nvCxnSpPr>
        <p:spPr>
          <a:xfrm>
            <a:off x="6096000" y="4267288"/>
            <a:ext cx="129871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Gerade Verbindung mit Pfeil 25">
            <a:extLst>
              <a:ext uri="{FF2B5EF4-FFF2-40B4-BE49-F238E27FC236}">
                <a16:creationId xmlns:a16="http://schemas.microsoft.com/office/drawing/2014/main" id="{2831218C-F6CD-8CFF-AD3E-70D5F4E8A1D9}"/>
              </a:ext>
            </a:extLst>
          </p:cNvPr>
          <p:cNvCxnSpPr>
            <a:cxnSpLocks/>
          </p:cNvCxnSpPr>
          <p:nvPr/>
        </p:nvCxnSpPr>
        <p:spPr>
          <a:xfrm flipV="1">
            <a:off x="6035040" y="4660548"/>
            <a:ext cx="1359673" cy="9805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Grafik 3">
            <a:extLst>
              <a:ext uri="{FF2B5EF4-FFF2-40B4-BE49-F238E27FC236}">
                <a16:creationId xmlns:a16="http://schemas.microsoft.com/office/drawing/2014/main" id="{5DAB38B1-C92A-46BB-8593-CD579D6314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4299" y="1743456"/>
            <a:ext cx="5053715" cy="1731834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FB439D34-183D-1393-6ECF-DE3B3CF82C5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4299" y="3592666"/>
            <a:ext cx="5058881" cy="1240210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076B7F1F-E0A1-6183-BDE1-9CFB94EDFF2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4299" y="5026429"/>
            <a:ext cx="5053715" cy="1229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76459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E75618E-1FBA-D0E5-EACE-745B3E5B39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8355" y="78851"/>
            <a:ext cx="10336033" cy="1295400"/>
          </a:xfrm>
        </p:spPr>
        <p:txBody>
          <a:bodyPr/>
          <a:lstStyle/>
          <a:p>
            <a:r>
              <a:rPr lang="de-DE" dirty="0"/>
              <a:t>1.excel Imports </a:t>
            </a:r>
            <a:r>
              <a:rPr lang="en-US" dirty="0"/>
              <a:t>&amp;</a:t>
            </a:r>
            <a:r>
              <a:rPr lang="de-DE" dirty="0"/>
              <a:t> Normalisierung 3/3</a:t>
            </a:r>
          </a:p>
        </p:txBody>
      </p:sp>
      <p:pic>
        <p:nvPicPr>
          <p:cNvPr id="5" name="Inhaltsplatzhalter 4">
            <a:extLst>
              <a:ext uri="{FF2B5EF4-FFF2-40B4-BE49-F238E27FC236}">
                <a16:creationId xmlns:a16="http://schemas.microsoft.com/office/drawing/2014/main" id="{9CE7E7DE-205B-5F72-555B-65080E76D4C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128697" y="1636643"/>
            <a:ext cx="5571744" cy="5042658"/>
          </a:xfrm>
        </p:spPr>
      </p:pic>
    </p:spTree>
    <p:extLst>
      <p:ext uri="{BB962C8B-B14F-4D97-AF65-F5344CB8AC3E}">
        <p14:creationId xmlns:p14="http://schemas.microsoft.com/office/powerpoint/2010/main" val="33568219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03AF0A2-10A4-1081-30B9-BC60E327AA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381000"/>
            <a:ext cx="9794966" cy="1295400"/>
          </a:xfrm>
        </p:spPr>
        <p:txBody>
          <a:bodyPr/>
          <a:lstStyle/>
          <a:p>
            <a:r>
              <a:rPr lang="de-DE" dirty="0"/>
              <a:t>2. </a:t>
            </a:r>
            <a:r>
              <a:rPr lang="de-DE" dirty="0" err="1"/>
              <a:t>Postgres</a:t>
            </a:r>
            <a:r>
              <a:rPr lang="de-DE" dirty="0"/>
              <a:t> Datenbank &amp; Imports 1/3 </a:t>
            </a:r>
          </a:p>
        </p:txBody>
      </p:sp>
      <p:pic>
        <p:nvPicPr>
          <p:cNvPr id="9" name="Inhaltsplatzhalter 8">
            <a:extLst>
              <a:ext uri="{FF2B5EF4-FFF2-40B4-BE49-F238E27FC236}">
                <a16:creationId xmlns:a16="http://schemas.microsoft.com/office/drawing/2014/main" id="{008D2CE0-00CC-A699-B2B6-E00381C705C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64049" y="1816226"/>
            <a:ext cx="3478639" cy="553178"/>
          </a:xfr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26F3266B-7DF6-F543-A062-E5B6756909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4049" y="2536662"/>
            <a:ext cx="5656823" cy="1050834"/>
          </a:xfrm>
          <a:prstGeom prst="rect">
            <a:avLst/>
          </a:prstGeom>
        </p:spPr>
      </p:pic>
      <p:pic>
        <p:nvPicPr>
          <p:cNvPr id="13" name="Grafik 12">
            <a:extLst>
              <a:ext uri="{FF2B5EF4-FFF2-40B4-BE49-F238E27FC236}">
                <a16:creationId xmlns:a16="http://schemas.microsoft.com/office/drawing/2014/main" id="{8305D5CA-3A69-8A3E-42CF-2861F6DED1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4049" y="3754754"/>
            <a:ext cx="5656824" cy="1026817"/>
          </a:xfrm>
          <a:prstGeom prst="rect">
            <a:avLst/>
          </a:prstGeom>
        </p:spPr>
      </p:pic>
      <p:pic>
        <p:nvPicPr>
          <p:cNvPr id="15" name="Grafik 14">
            <a:extLst>
              <a:ext uri="{FF2B5EF4-FFF2-40B4-BE49-F238E27FC236}">
                <a16:creationId xmlns:a16="http://schemas.microsoft.com/office/drawing/2014/main" id="{0B83D538-F23A-5464-FBFA-DE3B9BD6991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64049" y="4948829"/>
            <a:ext cx="5656823" cy="1772138"/>
          </a:xfrm>
          <a:prstGeom prst="rect">
            <a:avLst/>
          </a:prstGeom>
        </p:spPr>
      </p:pic>
      <p:sp>
        <p:nvSpPr>
          <p:cNvPr id="16" name="Textfeld 15">
            <a:extLst>
              <a:ext uri="{FF2B5EF4-FFF2-40B4-BE49-F238E27FC236}">
                <a16:creationId xmlns:a16="http://schemas.microsoft.com/office/drawing/2014/main" id="{4FCDE573-75BD-3D73-B11A-DEF34C3993C2}"/>
              </a:ext>
            </a:extLst>
          </p:cNvPr>
          <p:cNvSpPr txBox="1"/>
          <p:nvPr/>
        </p:nvSpPr>
        <p:spPr>
          <a:xfrm>
            <a:off x="7046976" y="5070812"/>
            <a:ext cx="419404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dirty="0" err="1"/>
              <a:t>Hinzuf</a:t>
            </a:r>
            <a:r>
              <a:rPr lang="de-DE" dirty="0"/>
              <a:t>ü</a:t>
            </a:r>
            <a:r>
              <a:rPr lang="en-US" dirty="0"/>
              <a:t>gen von </a:t>
            </a:r>
            <a:r>
              <a:rPr lang="en-US" dirty="0" err="1"/>
              <a:t>KundenID</a:t>
            </a:r>
            <a:r>
              <a:rPr lang="en-US" dirty="0"/>
              <a:t> &amp; </a:t>
            </a:r>
            <a:r>
              <a:rPr lang="en-US" dirty="0" err="1"/>
              <a:t>ProduktID</a:t>
            </a:r>
            <a:r>
              <a:rPr lang="en-US" dirty="0"/>
              <a:t> </a:t>
            </a:r>
            <a:r>
              <a:rPr lang="en-US" dirty="0" err="1"/>
              <a:t>als</a:t>
            </a:r>
            <a:r>
              <a:rPr lang="en-US" dirty="0"/>
              <a:t> References.</a:t>
            </a:r>
            <a:br>
              <a:rPr lang="en-US" dirty="0"/>
            </a:b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8002400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BB249A1-0A30-26C3-ACC9-2838A82D27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381000"/>
            <a:ext cx="10062754" cy="1295400"/>
          </a:xfrm>
        </p:spPr>
        <p:txBody>
          <a:bodyPr/>
          <a:lstStyle/>
          <a:p>
            <a:r>
              <a:rPr lang="de-DE" dirty="0"/>
              <a:t>2. </a:t>
            </a:r>
            <a:r>
              <a:rPr lang="de-DE" dirty="0" err="1"/>
              <a:t>Postgres</a:t>
            </a:r>
            <a:r>
              <a:rPr lang="de-DE" dirty="0"/>
              <a:t> Datenbank &amp; Imports 2/3</a:t>
            </a:r>
          </a:p>
        </p:txBody>
      </p:sp>
      <p:pic>
        <p:nvPicPr>
          <p:cNvPr id="5" name="Inhaltsplatzhalter 4">
            <a:extLst>
              <a:ext uri="{FF2B5EF4-FFF2-40B4-BE49-F238E27FC236}">
                <a16:creationId xmlns:a16="http://schemas.microsoft.com/office/drawing/2014/main" id="{71FB5F14-14E2-99F5-1FBC-887FF95895E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81200" y="2045926"/>
            <a:ext cx="4253736" cy="1443232"/>
          </a:xfr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E6210DF1-760D-A301-45F1-351D977F44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0519" y="4091609"/>
            <a:ext cx="8608833" cy="1567401"/>
          </a:xfrm>
          <a:prstGeom prst="rect">
            <a:avLst/>
          </a:prstGeom>
        </p:spPr>
      </p:pic>
      <p:pic>
        <p:nvPicPr>
          <p:cNvPr id="9" name="Grafik 8" descr="Abzeichen Tick1 Silhouette">
            <a:extLst>
              <a:ext uri="{FF2B5EF4-FFF2-40B4-BE49-F238E27FC236}">
                <a16:creationId xmlns:a16="http://schemas.microsoft.com/office/drawing/2014/main" id="{44E063EA-AD72-9AA8-932C-9CB92633EF2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737302" y="4418109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3539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0C6B4DD-AFDC-0B69-D80A-C46D7D09D3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381000"/>
            <a:ext cx="9742714" cy="1295400"/>
          </a:xfrm>
        </p:spPr>
        <p:txBody>
          <a:bodyPr/>
          <a:lstStyle/>
          <a:p>
            <a:r>
              <a:rPr lang="de-DE" dirty="0"/>
              <a:t>2. </a:t>
            </a:r>
            <a:r>
              <a:rPr lang="de-DE" dirty="0" err="1"/>
              <a:t>Postgres</a:t>
            </a:r>
            <a:r>
              <a:rPr lang="de-DE" dirty="0"/>
              <a:t> Datenbank &amp; Imports 3/3</a:t>
            </a:r>
          </a:p>
        </p:txBody>
      </p:sp>
      <p:pic>
        <p:nvPicPr>
          <p:cNvPr id="5" name="Inhaltsplatzhalter 4">
            <a:extLst>
              <a:ext uri="{FF2B5EF4-FFF2-40B4-BE49-F238E27FC236}">
                <a16:creationId xmlns:a16="http://schemas.microsoft.com/office/drawing/2014/main" id="{9485BBA8-6561-5C51-80D0-62AA905121C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553022" y="1968682"/>
            <a:ext cx="4244708" cy="3749365"/>
          </a:xfrm>
        </p:spPr>
      </p:pic>
      <p:sp>
        <p:nvSpPr>
          <p:cNvPr id="6" name="Textfeld 5">
            <a:extLst>
              <a:ext uri="{FF2B5EF4-FFF2-40B4-BE49-F238E27FC236}">
                <a16:creationId xmlns:a16="http://schemas.microsoft.com/office/drawing/2014/main" id="{590E4B4E-BBF9-DA64-7C70-C20F9E3B14FD}"/>
              </a:ext>
            </a:extLst>
          </p:cNvPr>
          <p:cNvSpPr txBox="1"/>
          <p:nvPr/>
        </p:nvSpPr>
        <p:spPr>
          <a:xfrm>
            <a:off x="4596384" y="5718047"/>
            <a:ext cx="24627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Schema </a:t>
            </a:r>
            <a:r>
              <a:rPr lang="de-DE" dirty="0"/>
              <a:t>Über</a:t>
            </a:r>
            <a:r>
              <a:rPr lang="en-US" dirty="0"/>
              <a:t>sicht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7204662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1C3661C-673B-C5B2-BF58-7FCA922001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3. Users &amp; </a:t>
            </a:r>
            <a:r>
              <a:rPr lang="de-DE" dirty="0" err="1"/>
              <a:t>Roles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0806E45-1934-A2C5-9170-F4EE101549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3200" dirty="0" err="1"/>
              <a:t>Wer</a:t>
            </a:r>
            <a:r>
              <a:rPr lang="en-US" sz="3200" dirty="0"/>
              <a:t>? Wie ? </a:t>
            </a:r>
            <a:r>
              <a:rPr lang="en-US" sz="3200" dirty="0" err="1"/>
              <a:t>Wieso</a:t>
            </a:r>
            <a:r>
              <a:rPr lang="en-US" sz="3200" dirty="0"/>
              <a:t>?</a:t>
            </a:r>
          </a:p>
          <a:p>
            <a:endParaRPr lang="en-US" dirty="0"/>
          </a:p>
          <a:p>
            <a:r>
              <a:rPr lang="en-US" dirty="0"/>
              <a:t>Roles: Admin, </a:t>
            </a:r>
            <a:r>
              <a:rPr lang="en-US" dirty="0" err="1"/>
              <a:t>Callcenter</a:t>
            </a:r>
            <a:r>
              <a:rPr lang="en-US" dirty="0"/>
              <a:t>, </a:t>
            </a:r>
            <a:r>
              <a:rPr lang="en-US" dirty="0" err="1"/>
              <a:t>Datenanalyst</a:t>
            </a:r>
            <a:endParaRPr lang="en-US" dirty="0"/>
          </a:p>
          <a:p>
            <a:r>
              <a:rPr lang="en-US" dirty="0"/>
              <a:t>Users  : </a:t>
            </a:r>
            <a:r>
              <a:rPr lang="en-US" dirty="0" err="1"/>
              <a:t>lagerist</a:t>
            </a:r>
            <a:r>
              <a:rPr lang="en-US" dirty="0"/>
              <a:t>, </a:t>
            </a:r>
            <a:r>
              <a:rPr lang="en-US" dirty="0" err="1"/>
              <a:t>datenanalyst</a:t>
            </a:r>
            <a:r>
              <a:rPr lang="en-US" dirty="0"/>
              <a:t>, </a:t>
            </a:r>
            <a:br>
              <a:rPr lang="en-US" dirty="0"/>
            </a:br>
            <a:r>
              <a:rPr lang="en-US" dirty="0" err="1"/>
              <a:t>callcenter_mitarbeiter</a:t>
            </a:r>
            <a:r>
              <a:rPr lang="en-US" dirty="0"/>
              <a:t>, </a:t>
            </a:r>
            <a:r>
              <a:rPr lang="en-US" dirty="0" err="1"/>
              <a:t>buchhalter</a:t>
            </a:r>
            <a:r>
              <a:rPr lang="en-US" dirty="0"/>
              <a:t>,</a:t>
            </a:r>
            <a:br>
              <a:rPr lang="en-US" dirty="0"/>
            </a:br>
            <a:r>
              <a:rPr lang="en-US" dirty="0" err="1"/>
              <a:t>einkaeufer</a:t>
            </a:r>
            <a:endParaRPr lang="en-US" dirty="0"/>
          </a:p>
          <a:p>
            <a:endParaRPr lang="en-US" dirty="0"/>
          </a:p>
          <a:p>
            <a:endParaRPr lang="de-DE" dirty="0"/>
          </a:p>
        </p:txBody>
      </p:sp>
      <p:pic>
        <p:nvPicPr>
          <p:cNvPr id="13" name="Grafik 12" descr="Gehirn im Kopf Silhouette">
            <a:extLst>
              <a:ext uri="{FF2B5EF4-FFF2-40B4-BE49-F238E27FC236}">
                <a16:creationId xmlns:a16="http://schemas.microsoft.com/office/drawing/2014/main" id="{AFBAF250-EA54-D1A9-EF96-4D9B5E224B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46848" y="1987418"/>
            <a:ext cx="3507839" cy="3507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28440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1B1CDD1-C3E2-4109-B342-A8E5FBE4F7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3.1.</a:t>
            </a:r>
            <a:r>
              <a:rPr lang="en-US" dirty="0"/>
              <a:t>ROLES 1/2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C1FFB10-2AFE-DE70-639B-75E4842CC0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de-DE" dirty="0">
              <a:solidFill>
                <a:srgbClr val="669768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de-DE" dirty="0">
              <a:solidFill>
                <a:srgbClr val="669768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de-DE" dirty="0">
              <a:solidFill>
                <a:srgbClr val="669768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de-DE" dirty="0">
              <a:solidFill>
                <a:srgbClr val="669768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de-DE" sz="2400" dirty="0">
              <a:solidFill>
                <a:srgbClr val="669768"/>
              </a:solidFill>
              <a:effectLst/>
              <a:latin typeface="Consolas" panose="020B0609020204030204" pitchFamily="49" charset="0"/>
            </a:endParaRPr>
          </a:p>
          <a:p>
            <a:endParaRPr lang="de-DE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7AAF37FB-02DD-F1F5-B815-6A20541EEC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9097" y="4478640"/>
            <a:ext cx="4506876" cy="788148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BFD73157-19B8-8177-E7B2-8673AA4E89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9095" y="5498813"/>
            <a:ext cx="5408516" cy="788147"/>
          </a:xfrm>
          <a:prstGeom prst="rect">
            <a:avLst/>
          </a:prstGeom>
        </p:spPr>
      </p:pic>
      <p:pic>
        <p:nvPicPr>
          <p:cNvPr id="15" name="Grafik 14">
            <a:extLst>
              <a:ext uri="{FF2B5EF4-FFF2-40B4-BE49-F238E27FC236}">
                <a16:creationId xmlns:a16="http://schemas.microsoft.com/office/drawing/2014/main" id="{0EDE18DC-A4A5-C513-8192-550B7E6B17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79095" y="1796715"/>
            <a:ext cx="3873327" cy="2379249"/>
          </a:xfrm>
          <a:prstGeom prst="rect">
            <a:avLst/>
          </a:prstGeom>
        </p:spPr>
      </p:pic>
      <p:pic>
        <p:nvPicPr>
          <p:cNvPr id="20" name="Grafik 19" descr="Brille Silhouette">
            <a:extLst>
              <a:ext uri="{FF2B5EF4-FFF2-40B4-BE49-F238E27FC236}">
                <a16:creationId xmlns:a16="http://schemas.microsoft.com/office/drawing/2014/main" id="{869911A5-58DE-0FB2-5AA9-96316066569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620114" y="5435686"/>
            <a:ext cx="914400" cy="914400"/>
          </a:xfrm>
          <a:prstGeom prst="rect">
            <a:avLst/>
          </a:prstGeom>
        </p:spPr>
      </p:pic>
      <p:pic>
        <p:nvPicPr>
          <p:cNvPr id="28" name="Grafik 27" descr="Tabelle Silhouette">
            <a:extLst>
              <a:ext uri="{FF2B5EF4-FFF2-40B4-BE49-F238E27FC236}">
                <a16:creationId xmlns:a16="http://schemas.microsoft.com/office/drawing/2014/main" id="{CA6637B0-CA1F-1FC3-D8C3-8A4E8D66079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256465" y="2299571"/>
            <a:ext cx="640841" cy="640841"/>
          </a:xfrm>
          <a:prstGeom prst="rect">
            <a:avLst/>
          </a:prstGeom>
        </p:spPr>
      </p:pic>
      <p:pic>
        <p:nvPicPr>
          <p:cNvPr id="30" name="Grafik 29" descr="Mitarbeitendenausweis Silhouette">
            <a:extLst>
              <a:ext uri="{FF2B5EF4-FFF2-40B4-BE49-F238E27FC236}">
                <a16:creationId xmlns:a16="http://schemas.microsoft.com/office/drawing/2014/main" id="{A9194B33-F9EF-CA0F-4D80-C13BF1814DF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309477" y="2878522"/>
            <a:ext cx="587829" cy="587829"/>
          </a:xfrm>
          <a:prstGeom prst="rect">
            <a:avLst/>
          </a:prstGeom>
        </p:spPr>
      </p:pic>
      <p:pic>
        <p:nvPicPr>
          <p:cNvPr id="32" name="Grafik 31" descr="Getrennt Silhouette">
            <a:extLst>
              <a:ext uri="{FF2B5EF4-FFF2-40B4-BE49-F238E27FC236}">
                <a16:creationId xmlns:a16="http://schemas.microsoft.com/office/drawing/2014/main" id="{7C304E76-0A27-9CC9-C85A-99FBBCFEE543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381541" y="3436936"/>
            <a:ext cx="515765" cy="515765"/>
          </a:xfrm>
          <a:prstGeom prst="rect">
            <a:avLst/>
          </a:prstGeom>
        </p:spPr>
      </p:pic>
      <p:pic>
        <p:nvPicPr>
          <p:cNvPr id="33" name="Grafik 32" descr="Brille Silhouette">
            <a:extLst>
              <a:ext uri="{FF2B5EF4-FFF2-40B4-BE49-F238E27FC236}">
                <a16:creationId xmlns:a16="http://schemas.microsoft.com/office/drawing/2014/main" id="{5169B414-60B2-2A79-3CD8-A26CAA6F285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162914" y="4428904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21328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1065353-9ABB-AB33-FE4F-FCFCDE8635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3.2 </a:t>
            </a:r>
            <a:r>
              <a:rPr lang="en-US" dirty="0"/>
              <a:t>ROLES 2/2</a:t>
            </a:r>
            <a:endParaRPr lang="de-DE" dirty="0"/>
          </a:p>
        </p:txBody>
      </p:sp>
      <p:grpSp>
        <p:nvGrpSpPr>
          <p:cNvPr id="33" name="Gruppieren 32">
            <a:extLst>
              <a:ext uri="{FF2B5EF4-FFF2-40B4-BE49-F238E27FC236}">
                <a16:creationId xmlns:a16="http://schemas.microsoft.com/office/drawing/2014/main" id="{DEA52BEA-8711-BE58-F4A8-3BEF42C34279}"/>
              </a:ext>
            </a:extLst>
          </p:cNvPr>
          <p:cNvGrpSpPr/>
          <p:nvPr/>
        </p:nvGrpSpPr>
        <p:grpSpPr>
          <a:xfrm>
            <a:off x="2119580" y="2142553"/>
            <a:ext cx="5394102" cy="1286447"/>
            <a:chOff x="2041892" y="2006766"/>
            <a:chExt cx="5394102" cy="1286447"/>
          </a:xfrm>
        </p:grpSpPr>
        <p:pic>
          <p:nvPicPr>
            <p:cNvPr id="9" name="Grafik 8">
              <a:extLst>
                <a:ext uri="{FF2B5EF4-FFF2-40B4-BE49-F238E27FC236}">
                  <a16:creationId xmlns:a16="http://schemas.microsoft.com/office/drawing/2014/main" id="{F280C384-8152-CC7F-1B9A-4D3C4D12157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041892" y="2006766"/>
              <a:ext cx="4288379" cy="1239354"/>
            </a:xfrm>
            <a:prstGeom prst="rect">
              <a:avLst/>
            </a:prstGeom>
          </p:spPr>
        </p:pic>
        <p:pic>
          <p:nvPicPr>
            <p:cNvPr id="20" name="Inhaltsplatzhalter 3" descr="Brille Silhouette">
              <a:extLst>
                <a:ext uri="{FF2B5EF4-FFF2-40B4-BE49-F238E27FC236}">
                  <a16:creationId xmlns:a16="http://schemas.microsoft.com/office/drawing/2014/main" id="{90056475-83B0-053B-7D29-B3BDAC2D733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423212" y="2382155"/>
              <a:ext cx="488575" cy="488575"/>
            </a:xfrm>
            <a:prstGeom prst="rect">
              <a:avLst/>
            </a:prstGeom>
          </p:spPr>
        </p:pic>
        <p:pic>
          <p:nvPicPr>
            <p:cNvPr id="21" name="Inhaltsplatzhalter 3" descr="Brille Silhouette">
              <a:extLst>
                <a:ext uri="{FF2B5EF4-FFF2-40B4-BE49-F238E27FC236}">
                  <a16:creationId xmlns:a16="http://schemas.microsoft.com/office/drawing/2014/main" id="{D0714DF6-F5C4-5D23-A97E-4E0DF351A3B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423211" y="2804638"/>
              <a:ext cx="488575" cy="488575"/>
            </a:xfrm>
            <a:prstGeom prst="rect">
              <a:avLst/>
            </a:prstGeom>
          </p:spPr>
        </p:pic>
        <p:pic>
          <p:nvPicPr>
            <p:cNvPr id="22" name="Grafik 21" descr="Pfeil Kreis Silhouette">
              <a:extLst>
                <a:ext uri="{FF2B5EF4-FFF2-40B4-BE49-F238E27FC236}">
                  <a16:creationId xmlns:a16="http://schemas.microsoft.com/office/drawing/2014/main" id="{3165138C-F276-7E9D-A573-F7CD7AC9513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6947420" y="2804638"/>
              <a:ext cx="488574" cy="488574"/>
            </a:xfrm>
            <a:prstGeom prst="rect">
              <a:avLst/>
            </a:prstGeom>
          </p:spPr>
        </p:pic>
      </p:grpSp>
      <p:grpSp>
        <p:nvGrpSpPr>
          <p:cNvPr id="32" name="Gruppieren 31">
            <a:extLst>
              <a:ext uri="{FF2B5EF4-FFF2-40B4-BE49-F238E27FC236}">
                <a16:creationId xmlns:a16="http://schemas.microsoft.com/office/drawing/2014/main" id="{34ED7BA7-84DF-CD0B-6E55-826EADBDA3A0}"/>
              </a:ext>
            </a:extLst>
          </p:cNvPr>
          <p:cNvGrpSpPr/>
          <p:nvPr/>
        </p:nvGrpSpPr>
        <p:grpSpPr>
          <a:xfrm>
            <a:off x="2119580" y="3770087"/>
            <a:ext cx="6949088" cy="1078857"/>
            <a:chOff x="2041892" y="3359946"/>
            <a:chExt cx="6949088" cy="1078857"/>
          </a:xfrm>
        </p:grpSpPr>
        <p:pic>
          <p:nvPicPr>
            <p:cNvPr id="11" name="Grafik 10">
              <a:extLst>
                <a:ext uri="{FF2B5EF4-FFF2-40B4-BE49-F238E27FC236}">
                  <a16:creationId xmlns:a16="http://schemas.microsoft.com/office/drawing/2014/main" id="{20023C92-AF32-2531-DC59-63D516C27CE5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2041892" y="3359946"/>
              <a:ext cx="4905528" cy="1048768"/>
            </a:xfrm>
            <a:prstGeom prst="rect">
              <a:avLst/>
            </a:prstGeom>
          </p:spPr>
        </p:pic>
        <p:pic>
          <p:nvPicPr>
            <p:cNvPr id="14" name="Inhaltsplatzhalter 3" descr="Brille Silhouette">
              <a:extLst>
                <a:ext uri="{FF2B5EF4-FFF2-40B4-BE49-F238E27FC236}">
                  <a16:creationId xmlns:a16="http://schemas.microsoft.com/office/drawing/2014/main" id="{67F8476B-1032-71D6-F2AA-B17EE8C4918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992051" y="3950228"/>
              <a:ext cx="488575" cy="488575"/>
            </a:xfrm>
            <a:prstGeom prst="rect">
              <a:avLst/>
            </a:prstGeom>
          </p:spPr>
        </p:pic>
        <p:pic>
          <p:nvPicPr>
            <p:cNvPr id="15" name="Grafik 14" descr="Pfeil Kreis Silhouette">
              <a:extLst>
                <a:ext uri="{FF2B5EF4-FFF2-40B4-BE49-F238E27FC236}">
                  <a16:creationId xmlns:a16="http://schemas.microsoft.com/office/drawing/2014/main" id="{CED636E1-5DFC-0BC7-0519-47919F153D9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8013832" y="3950228"/>
              <a:ext cx="488574" cy="488574"/>
            </a:xfrm>
            <a:prstGeom prst="rect">
              <a:avLst/>
            </a:prstGeom>
          </p:spPr>
        </p:pic>
        <p:pic>
          <p:nvPicPr>
            <p:cNvPr id="17" name="Grafik 16" descr="Abfall Silhouette">
              <a:extLst>
                <a:ext uri="{FF2B5EF4-FFF2-40B4-BE49-F238E27FC236}">
                  <a16:creationId xmlns:a16="http://schemas.microsoft.com/office/drawing/2014/main" id="{76FCA791-6FDC-7C6B-6285-29BDA307FEFF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8502406" y="3950228"/>
              <a:ext cx="488574" cy="488574"/>
            </a:xfrm>
            <a:prstGeom prst="rect">
              <a:avLst/>
            </a:prstGeom>
          </p:spPr>
        </p:pic>
        <p:pic>
          <p:nvPicPr>
            <p:cNvPr id="23" name="Inhaltsplatzhalter 3" descr="Brille Silhouette">
              <a:extLst>
                <a:ext uri="{FF2B5EF4-FFF2-40B4-BE49-F238E27FC236}">
                  <a16:creationId xmlns:a16="http://schemas.microsoft.com/office/drawing/2014/main" id="{4B1B35DD-296C-11B5-F0D0-E98A80E01C7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992051" y="3640042"/>
              <a:ext cx="488575" cy="488575"/>
            </a:xfrm>
            <a:prstGeom prst="rect">
              <a:avLst/>
            </a:prstGeom>
          </p:spPr>
        </p:pic>
        <p:pic>
          <p:nvPicPr>
            <p:cNvPr id="25" name="Grafik 24" descr="Ethernet mit einfarbiger Füllung">
              <a:extLst>
                <a:ext uri="{FF2B5EF4-FFF2-40B4-BE49-F238E27FC236}">
                  <a16:creationId xmlns:a16="http://schemas.microsoft.com/office/drawing/2014/main" id="{2352878A-B0A6-2AA1-4ECF-7F2EF4F77468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7525257" y="3950228"/>
              <a:ext cx="488575" cy="488575"/>
            </a:xfrm>
            <a:prstGeom prst="rect">
              <a:avLst/>
            </a:prstGeom>
          </p:spPr>
        </p:pic>
      </p:grpSp>
      <p:grpSp>
        <p:nvGrpSpPr>
          <p:cNvPr id="31" name="Gruppieren 30">
            <a:extLst>
              <a:ext uri="{FF2B5EF4-FFF2-40B4-BE49-F238E27FC236}">
                <a16:creationId xmlns:a16="http://schemas.microsoft.com/office/drawing/2014/main" id="{69F8C136-0BC6-ADED-EA4D-AFAD7DBB218E}"/>
              </a:ext>
            </a:extLst>
          </p:cNvPr>
          <p:cNvGrpSpPr/>
          <p:nvPr/>
        </p:nvGrpSpPr>
        <p:grpSpPr>
          <a:xfrm>
            <a:off x="2125579" y="5271427"/>
            <a:ext cx="7393032" cy="1191538"/>
            <a:chOff x="2041891" y="4618646"/>
            <a:chExt cx="7393032" cy="1191538"/>
          </a:xfrm>
        </p:grpSpPr>
        <p:pic>
          <p:nvPicPr>
            <p:cNvPr id="13" name="Grafik 12">
              <a:extLst>
                <a:ext uri="{FF2B5EF4-FFF2-40B4-BE49-F238E27FC236}">
                  <a16:creationId xmlns:a16="http://schemas.microsoft.com/office/drawing/2014/main" id="{997006F8-BC80-10A1-2943-65886DB68AFB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2041891" y="4618646"/>
              <a:ext cx="5367457" cy="1096353"/>
            </a:xfrm>
            <a:prstGeom prst="rect">
              <a:avLst/>
            </a:prstGeom>
          </p:spPr>
        </p:pic>
        <p:pic>
          <p:nvPicPr>
            <p:cNvPr id="26" name="Inhaltsplatzhalter 3" descr="Brille Silhouette">
              <a:extLst>
                <a:ext uri="{FF2B5EF4-FFF2-40B4-BE49-F238E27FC236}">
                  <a16:creationId xmlns:a16="http://schemas.microsoft.com/office/drawing/2014/main" id="{CEF76A8B-16C7-77C5-CD83-95798AFC4D0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7435994" y="4984371"/>
              <a:ext cx="488575" cy="488575"/>
            </a:xfrm>
            <a:prstGeom prst="rect">
              <a:avLst/>
            </a:prstGeom>
          </p:spPr>
        </p:pic>
        <p:pic>
          <p:nvPicPr>
            <p:cNvPr id="27" name="Grafik 26" descr="Pfeil Kreis Silhouette">
              <a:extLst>
                <a:ext uri="{FF2B5EF4-FFF2-40B4-BE49-F238E27FC236}">
                  <a16:creationId xmlns:a16="http://schemas.microsoft.com/office/drawing/2014/main" id="{9DCD388F-1686-DEBE-BC33-773B7D4E595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8457775" y="4984371"/>
              <a:ext cx="488574" cy="488574"/>
            </a:xfrm>
            <a:prstGeom prst="rect">
              <a:avLst/>
            </a:prstGeom>
          </p:spPr>
        </p:pic>
        <p:pic>
          <p:nvPicPr>
            <p:cNvPr id="28" name="Grafik 27" descr="Abfall Silhouette">
              <a:extLst>
                <a:ext uri="{FF2B5EF4-FFF2-40B4-BE49-F238E27FC236}">
                  <a16:creationId xmlns:a16="http://schemas.microsoft.com/office/drawing/2014/main" id="{5F4FAADD-7BC0-0739-A8A5-813CA6F76828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8946349" y="4984371"/>
              <a:ext cx="488574" cy="488574"/>
            </a:xfrm>
            <a:prstGeom prst="rect">
              <a:avLst/>
            </a:prstGeom>
          </p:spPr>
        </p:pic>
        <p:pic>
          <p:nvPicPr>
            <p:cNvPr id="29" name="Grafik 28" descr="Ethernet mit einfarbiger Füllung">
              <a:extLst>
                <a:ext uri="{FF2B5EF4-FFF2-40B4-BE49-F238E27FC236}">
                  <a16:creationId xmlns:a16="http://schemas.microsoft.com/office/drawing/2014/main" id="{3D0AAE04-235F-E870-7678-41B54A956A84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7969200" y="4984371"/>
              <a:ext cx="488575" cy="488575"/>
            </a:xfrm>
            <a:prstGeom prst="rect">
              <a:avLst/>
            </a:prstGeom>
          </p:spPr>
        </p:pic>
        <p:pic>
          <p:nvPicPr>
            <p:cNvPr id="30" name="Inhaltsplatzhalter 3" descr="Brille Silhouette">
              <a:extLst>
                <a:ext uri="{FF2B5EF4-FFF2-40B4-BE49-F238E27FC236}">
                  <a16:creationId xmlns:a16="http://schemas.microsoft.com/office/drawing/2014/main" id="{C707E020-5B92-3230-8DB0-ABF926095CF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7429994" y="5321609"/>
              <a:ext cx="488575" cy="48857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9130704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02D81AE-7AD6-6EF1-6272-322A4C0FA5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3.2 USERs 1/2</a:t>
            </a:r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AFA604A7-ED2F-9243-3D03-F30A79B082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1200" y="2272457"/>
            <a:ext cx="8705644" cy="3279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53704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48D53FD-2EE1-5280-FACA-1B9E474757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3.2 Users 2/2</a:t>
            </a:r>
            <a:endParaRPr lang="de-DE" dirty="0"/>
          </a:p>
        </p:txBody>
      </p:sp>
      <p:pic>
        <p:nvPicPr>
          <p:cNvPr id="5" name="Inhaltsplatzhalter 4">
            <a:extLst>
              <a:ext uri="{FF2B5EF4-FFF2-40B4-BE49-F238E27FC236}">
                <a16:creationId xmlns:a16="http://schemas.microsoft.com/office/drawing/2014/main" id="{AA13BD8D-778A-E26D-BB2E-F7DE17031B2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93493" y="2247316"/>
            <a:ext cx="7547811" cy="3182027"/>
          </a:xfrm>
        </p:spPr>
      </p:pic>
    </p:spTree>
    <p:extLst>
      <p:ext uri="{BB962C8B-B14F-4D97-AF65-F5344CB8AC3E}">
        <p14:creationId xmlns:p14="http://schemas.microsoft.com/office/powerpoint/2010/main" val="16974525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858422F-28A9-2B56-DBF2-C0D455AE5C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3.3 Users Controlling</a:t>
            </a:r>
            <a:endParaRPr lang="de-DE" dirty="0"/>
          </a:p>
        </p:txBody>
      </p:sp>
      <p:pic>
        <p:nvPicPr>
          <p:cNvPr id="9" name="Inhaltsplatzhalter 8">
            <a:extLst>
              <a:ext uri="{FF2B5EF4-FFF2-40B4-BE49-F238E27FC236}">
                <a16:creationId xmlns:a16="http://schemas.microsoft.com/office/drawing/2014/main" id="{316D4A0D-597F-5817-5EDE-1878952E313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82392" y="1928453"/>
            <a:ext cx="6759526" cy="2301439"/>
          </a:xfrm>
        </p:spPr>
      </p:pic>
      <p:pic>
        <p:nvPicPr>
          <p:cNvPr id="12" name="Grafik 11" descr="Abzeichen Tick1 Silhouette">
            <a:extLst>
              <a:ext uri="{FF2B5EF4-FFF2-40B4-BE49-F238E27FC236}">
                <a16:creationId xmlns:a16="http://schemas.microsoft.com/office/drawing/2014/main" id="{0B4C14E4-0B8E-0A35-9943-187933B8F70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85609" y="5037513"/>
            <a:ext cx="914400" cy="914400"/>
          </a:xfrm>
          <a:prstGeom prst="rect">
            <a:avLst/>
          </a:prstGeom>
        </p:spPr>
      </p:pic>
      <p:pic>
        <p:nvPicPr>
          <p:cNvPr id="14" name="Grafik 13">
            <a:extLst>
              <a:ext uri="{FF2B5EF4-FFF2-40B4-BE49-F238E27FC236}">
                <a16:creationId xmlns:a16="http://schemas.microsoft.com/office/drawing/2014/main" id="{F2B816DC-5F01-DF60-C4B5-BA7DF9DD49E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82392" y="4366592"/>
            <a:ext cx="3733800" cy="211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16256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FBAADC-243B-3125-BEAE-0586C3D8CB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5838D99-6069-6F26-36B3-09A87B281B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90230" y="865831"/>
            <a:ext cx="9372600" cy="1199606"/>
          </a:xfrm>
        </p:spPr>
        <p:txBody>
          <a:bodyPr>
            <a:normAutofit fontScale="90000"/>
          </a:bodyPr>
          <a:lstStyle/>
          <a:p>
            <a:r>
              <a:rPr lang="de-DE" dirty="0"/>
              <a:t>AUFGABE 4 : Datensicherheit 1/2 </a:t>
            </a:r>
            <a:br>
              <a:rPr lang="de-DE" dirty="0"/>
            </a:br>
            <a:endParaRPr lang="de-DE" dirty="0"/>
          </a:p>
        </p:txBody>
      </p:sp>
      <p:grpSp>
        <p:nvGrpSpPr>
          <p:cNvPr id="13" name="Gruppieren 12">
            <a:extLst>
              <a:ext uri="{FF2B5EF4-FFF2-40B4-BE49-F238E27FC236}">
                <a16:creationId xmlns:a16="http://schemas.microsoft.com/office/drawing/2014/main" id="{93C329A9-4BF1-119F-C842-3F770F74CEB3}"/>
              </a:ext>
            </a:extLst>
          </p:cNvPr>
          <p:cNvGrpSpPr/>
          <p:nvPr/>
        </p:nvGrpSpPr>
        <p:grpSpPr>
          <a:xfrm>
            <a:off x="3662593" y="2527713"/>
            <a:ext cx="3891815" cy="3512456"/>
            <a:chOff x="1404256" y="1299804"/>
            <a:chExt cx="3891815" cy="3512456"/>
          </a:xfrm>
        </p:grpSpPr>
        <p:sp>
          <p:nvSpPr>
            <p:cNvPr id="3" name="Textfeld 2">
              <a:extLst>
                <a:ext uri="{FF2B5EF4-FFF2-40B4-BE49-F238E27FC236}">
                  <a16:creationId xmlns:a16="http://schemas.microsoft.com/office/drawing/2014/main" id="{3193A080-4E78-594F-99F5-E90CC5AD96BE}"/>
                </a:ext>
              </a:extLst>
            </p:cNvPr>
            <p:cNvSpPr txBox="1"/>
            <p:nvPr/>
          </p:nvSpPr>
          <p:spPr>
            <a:xfrm>
              <a:off x="1404256" y="1395940"/>
              <a:ext cx="2893423" cy="34163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>
                <a:buAutoNum type="arabicPeriod"/>
              </a:pPr>
              <a:r>
                <a:rPr lang="en-US" sz="2400" dirty="0"/>
                <a:t>Sensible Daten </a:t>
              </a:r>
              <a:r>
                <a:rPr lang="en-US" sz="2400" dirty="0" err="1"/>
                <a:t>identifizieren</a:t>
              </a:r>
              <a:br>
                <a:rPr lang="en-US" sz="2400" dirty="0"/>
              </a:br>
              <a:endParaRPr lang="en-US" sz="2400" dirty="0"/>
            </a:p>
            <a:p>
              <a:pPr marL="342900" indent="-342900">
                <a:buAutoNum type="arabicPeriod"/>
              </a:pPr>
              <a:r>
                <a:rPr lang="en-US" sz="2400" dirty="0"/>
                <a:t> Views </a:t>
              </a:r>
              <a:r>
                <a:rPr lang="en-US" sz="2400" dirty="0" err="1"/>
                <a:t>erstellen</a:t>
              </a:r>
              <a:br>
                <a:rPr lang="en-US" sz="2400" dirty="0"/>
              </a:br>
              <a:endParaRPr lang="en-US" sz="2400" dirty="0"/>
            </a:p>
            <a:p>
              <a:pPr marL="342900" indent="-342900">
                <a:buAutoNum type="arabicPeriod"/>
              </a:pPr>
              <a:r>
                <a:rPr lang="en-US" sz="2400" dirty="0"/>
                <a:t>Views dem User </a:t>
              </a:r>
              <a:r>
                <a:rPr lang="en-US" sz="2400" dirty="0" err="1"/>
                <a:t>zuweisen</a:t>
              </a:r>
              <a:r>
                <a:rPr lang="en-US" sz="2400" dirty="0"/>
                <a:t> </a:t>
              </a:r>
            </a:p>
            <a:p>
              <a:endParaRPr lang="en-US" sz="2400" dirty="0"/>
            </a:p>
            <a:p>
              <a:pPr marL="285750" indent="-285750">
                <a:buFontTx/>
                <a:buChar char="-"/>
              </a:pPr>
              <a:endParaRPr lang="de-DE" sz="2400" dirty="0"/>
            </a:p>
          </p:txBody>
        </p:sp>
        <p:pic>
          <p:nvPicPr>
            <p:cNvPr id="5" name="Grafik 4" descr="Kreditkarte Silhouette">
              <a:extLst>
                <a:ext uri="{FF2B5EF4-FFF2-40B4-BE49-F238E27FC236}">
                  <a16:creationId xmlns:a16="http://schemas.microsoft.com/office/drawing/2014/main" id="{BA394ADA-FF0D-4500-71A1-38A1D5FF28D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318193" y="1299804"/>
              <a:ext cx="977878" cy="977878"/>
            </a:xfrm>
            <a:prstGeom prst="rect">
              <a:avLst/>
            </a:prstGeom>
          </p:spPr>
        </p:pic>
        <p:pic>
          <p:nvPicPr>
            <p:cNvPr id="9" name="Grafik 8" descr="Auge Silhouette">
              <a:extLst>
                <a:ext uri="{FF2B5EF4-FFF2-40B4-BE49-F238E27FC236}">
                  <a16:creationId xmlns:a16="http://schemas.microsoft.com/office/drawing/2014/main" id="{94A18FF8-5F0D-83A3-AFBC-E3E373DDC43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4318193" y="2251020"/>
              <a:ext cx="977878" cy="977878"/>
            </a:xfrm>
            <a:prstGeom prst="rect">
              <a:avLst/>
            </a:prstGeom>
          </p:spPr>
        </p:pic>
        <p:pic>
          <p:nvPicPr>
            <p:cNvPr id="12" name="Grafik 11" descr="Benutzer Silhouette">
              <a:extLst>
                <a:ext uri="{FF2B5EF4-FFF2-40B4-BE49-F238E27FC236}">
                  <a16:creationId xmlns:a16="http://schemas.microsoft.com/office/drawing/2014/main" id="{38213421-FBC8-B121-9C7F-10F0EB044EB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4318193" y="3202235"/>
              <a:ext cx="977878" cy="97787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2718396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k 5">
            <a:extLst>
              <a:ext uri="{FF2B5EF4-FFF2-40B4-BE49-F238E27FC236}">
                <a16:creationId xmlns:a16="http://schemas.microsoft.com/office/drawing/2014/main" id="{B785F191-2BE8-5491-EB6A-29672A5B40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0126" y="2719054"/>
            <a:ext cx="9687169" cy="2082540"/>
          </a:xfrm>
          <a:prstGeom prst="rect">
            <a:avLst/>
          </a:prstGeom>
        </p:spPr>
      </p:pic>
      <p:sp>
        <p:nvSpPr>
          <p:cNvPr id="5" name="Titel 1">
            <a:extLst>
              <a:ext uri="{FF2B5EF4-FFF2-40B4-BE49-F238E27FC236}">
                <a16:creationId xmlns:a16="http://schemas.microsoft.com/office/drawing/2014/main" id="{688C70A7-11F2-65B2-E61E-15DD1851D7A4}"/>
              </a:ext>
            </a:extLst>
          </p:cNvPr>
          <p:cNvSpPr txBox="1">
            <a:spLocks/>
          </p:cNvSpPr>
          <p:nvPr/>
        </p:nvSpPr>
        <p:spPr>
          <a:xfrm>
            <a:off x="1981200" y="381000"/>
            <a:ext cx="9372600" cy="1199606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 lnSpcReduction="100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400" kern="1200" cap="all" baseline="0">
                <a:solidFill>
                  <a:schemeClr val="accent1">
                    <a:lumMod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dirty="0"/>
              <a:t>AUFGABE 4 : Datensicherheit 1/2 </a:t>
            </a:r>
            <a:br>
              <a:rPr lang="de-DE" dirty="0"/>
            </a:br>
            <a:endParaRPr lang="de-DE" dirty="0"/>
          </a:p>
        </p:txBody>
      </p:sp>
      <p:pic>
        <p:nvPicPr>
          <p:cNvPr id="7" name="Grafik 6" descr="Auge Silhouette">
            <a:extLst>
              <a:ext uri="{FF2B5EF4-FFF2-40B4-BE49-F238E27FC236}">
                <a16:creationId xmlns:a16="http://schemas.microsoft.com/office/drawing/2014/main" id="{A6026338-B0BC-86E8-8976-E8AAC6FFDB8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50126" y="1887980"/>
            <a:ext cx="831074" cy="831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63513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fik 7">
            <a:extLst>
              <a:ext uri="{FF2B5EF4-FFF2-40B4-BE49-F238E27FC236}">
                <a16:creationId xmlns:a16="http://schemas.microsoft.com/office/drawing/2014/main" id="{5CBAD1B2-9413-A1B2-1C33-BCF2C72816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9309" y="1865170"/>
            <a:ext cx="6563241" cy="2566032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CAC20C31-8239-F66B-C2D4-626F0D48E36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0837"/>
          <a:stretch/>
        </p:blipFill>
        <p:spPr>
          <a:xfrm>
            <a:off x="2639309" y="4715766"/>
            <a:ext cx="5667250" cy="1907955"/>
          </a:xfrm>
          <a:prstGeom prst="rect">
            <a:avLst/>
          </a:prstGeom>
        </p:spPr>
      </p:pic>
      <p:sp>
        <p:nvSpPr>
          <p:cNvPr id="5" name="Titel 1">
            <a:extLst>
              <a:ext uri="{FF2B5EF4-FFF2-40B4-BE49-F238E27FC236}">
                <a16:creationId xmlns:a16="http://schemas.microsoft.com/office/drawing/2014/main" id="{58E8369B-50C5-6923-F205-375B0A167495}"/>
              </a:ext>
            </a:extLst>
          </p:cNvPr>
          <p:cNvSpPr txBox="1">
            <a:spLocks/>
          </p:cNvSpPr>
          <p:nvPr/>
        </p:nvSpPr>
        <p:spPr>
          <a:xfrm>
            <a:off x="1981200" y="381000"/>
            <a:ext cx="9372600" cy="1199606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 lnSpcReduction="100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400" kern="1200" cap="all" baseline="0">
                <a:solidFill>
                  <a:schemeClr val="accent1">
                    <a:lumMod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dirty="0"/>
              <a:t>AUFGABE 4 : Datensicherheit 1/2 </a:t>
            </a:r>
            <a:br>
              <a:rPr lang="de-DE" dirty="0"/>
            </a:br>
            <a:endParaRPr lang="de-DE" dirty="0"/>
          </a:p>
        </p:txBody>
      </p:sp>
      <p:pic>
        <p:nvPicPr>
          <p:cNvPr id="6" name="Grafik 5" descr="Abzeichen Tick1 Silhouette">
            <a:extLst>
              <a:ext uri="{FF2B5EF4-FFF2-40B4-BE49-F238E27FC236}">
                <a16:creationId xmlns:a16="http://schemas.microsoft.com/office/drawing/2014/main" id="{8E8F7F1F-8F2F-7027-A06C-989675B714A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306559" y="5270044"/>
            <a:ext cx="914400" cy="914400"/>
          </a:xfrm>
          <a:prstGeom prst="rect">
            <a:avLst/>
          </a:prstGeom>
        </p:spPr>
      </p:pic>
      <p:pic>
        <p:nvPicPr>
          <p:cNvPr id="7" name="Grafik 6" descr="Benutzer Silhouette">
            <a:extLst>
              <a:ext uri="{FF2B5EF4-FFF2-40B4-BE49-F238E27FC236}">
                <a16:creationId xmlns:a16="http://schemas.microsoft.com/office/drawing/2014/main" id="{195C0CEE-EC1B-4530-3BA9-629AF8B0140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463652" y="1812065"/>
            <a:ext cx="753075" cy="753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73145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5BBC6B3-8862-03A4-4A3C-A3CDAC9554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AUFGABE 4 : Datensicherheit 2/2 </a:t>
            </a:r>
            <a:br>
              <a:rPr lang="de-DE" dirty="0"/>
            </a:br>
            <a:endParaRPr lang="de-DE" dirty="0"/>
          </a:p>
        </p:txBody>
      </p:sp>
      <p:pic>
        <p:nvPicPr>
          <p:cNvPr id="7" name="Grafik 6" descr="Benutzer Silhouette">
            <a:extLst>
              <a:ext uri="{FF2B5EF4-FFF2-40B4-BE49-F238E27FC236}">
                <a16:creationId xmlns:a16="http://schemas.microsoft.com/office/drawing/2014/main" id="{D0E8F3E2-C0AD-B33B-5FF6-B06A1B60AE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18353" y="1299862"/>
            <a:ext cx="753075" cy="753075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FC1E2F59-3DE9-9F73-98E4-F9AA95F231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84835" y="4888338"/>
            <a:ext cx="2566544" cy="1464246"/>
          </a:xfrm>
          <a:prstGeom prst="rect">
            <a:avLst/>
          </a:prstGeom>
        </p:spPr>
      </p:pic>
      <p:pic>
        <p:nvPicPr>
          <p:cNvPr id="11" name="Grafik 10" descr="Abzeichen Tick1 Silhouette">
            <a:extLst>
              <a:ext uri="{FF2B5EF4-FFF2-40B4-BE49-F238E27FC236}">
                <a16:creationId xmlns:a16="http://schemas.microsoft.com/office/drawing/2014/main" id="{B2A94516-7A04-9231-A8EB-E6D494F7AA6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634517" y="5268382"/>
            <a:ext cx="914400" cy="914400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2E114373-272A-9A77-4F33-56FDE314108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3531" y="2052937"/>
            <a:ext cx="7418166" cy="4299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80052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10FBEFF-099E-23FE-A309-C7B5BE0F90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7949" y="287084"/>
            <a:ext cx="9786257" cy="1295400"/>
          </a:xfrm>
        </p:spPr>
        <p:txBody>
          <a:bodyPr/>
          <a:lstStyle/>
          <a:p>
            <a:r>
              <a:rPr lang="de-DE" dirty="0"/>
              <a:t>AUFGABE 5 Datenanalyst </a:t>
            </a:r>
            <a:r>
              <a:rPr lang="de-DE" dirty="0" err="1"/>
              <a:t>queries</a:t>
            </a:r>
            <a:r>
              <a:rPr lang="de-DE" dirty="0"/>
              <a:t> 1/4</a:t>
            </a: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9A9C5AEA-0F3F-1C9B-E246-5AE106920B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7895" y="1868339"/>
            <a:ext cx="5882034" cy="1467143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762DA888-7247-DD5B-96B3-F25A59B5DE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2771" y="3621336"/>
            <a:ext cx="4317752" cy="3067991"/>
          </a:xfrm>
          <a:prstGeom prst="rect">
            <a:avLst/>
          </a:prstGeom>
        </p:spPr>
      </p:pic>
      <p:pic>
        <p:nvPicPr>
          <p:cNvPr id="9" name="Grafik 8" descr="Abzeichen Tick1 Silhouette">
            <a:extLst>
              <a:ext uri="{FF2B5EF4-FFF2-40B4-BE49-F238E27FC236}">
                <a16:creationId xmlns:a16="http://schemas.microsoft.com/office/drawing/2014/main" id="{D699C52A-81D0-1D20-788A-55ABB362659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41077" y="4793382"/>
            <a:ext cx="914400" cy="914400"/>
          </a:xfrm>
          <a:prstGeom prst="rect">
            <a:avLst/>
          </a:prstGeom>
        </p:spPr>
      </p:pic>
      <p:pic>
        <p:nvPicPr>
          <p:cNvPr id="11" name="Grafik 10" descr="Cloudcomputing Silhouette">
            <a:extLst>
              <a:ext uri="{FF2B5EF4-FFF2-40B4-BE49-F238E27FC236}">
                <a16:creationId xmlns:a16="http://schemas.microsoft.com/office/drawing/2014/main" id="{6884026A-FD61-9E59-35F9-9D92648354F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622071" y="2032001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63345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rafik 12">
            <a:extLst>
              <a:ext uri="{FF2B5EF4-FFF2-40B4-BE49-F238E27FC236}">
                <a16:creationId xmlns:a16="http://schemas.microsoft.com/office/drawing/2014/main" id="{055B1DBC-B4C8-2327-2337-BA20909E47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4300" y="1736495"/>
            <a:ext cx="5486400" cy="4698727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2E311EAD-4CF5-D84B-062C-CB03B44433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AUFGABE 5 Datenanalyst </a:t>
            </a:r>
            <a:r>
              <a:rPr lang="de-DE" dirty="0" err="1"/>
              <a:t>queries</a:t>
            </a:r>
            <a:r>
              <a:rPr lang="de-DE" dirty="0"/>
              <a:t> 2/4</a:t>
            </a:r>
          </a:p>
        </p:txBody>
      </p:sp>
      <p:pic>
        <p:nvPicPr>
          <p:cNvPr id="9" name="Grafik 8" descr="Abzeichen Tick1 Silhouette">
            <a:extLst>
              <a:ext uri="{FF2B5EF4-FFF2-40B4-BE49-F238E27FC236}">
                <a16:creationId xmlns:a16="http://schemas.microsoft.com/office/drawing/2014/main" id="{283CBC8B-D246-E82D-B594-3E1775C1DC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908044" y="5932566"/>
            <a:ext cx="502656" cy="502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29397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E2D3265-A62B-21A0-E45B-51E2B0D9B4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381000"/>
            <a:ext cx="9696994" cy="1295400"/>
          </a:xfrm>
        </p:spPr>
        <p:txBody>
          <a:bodyPr/>
          <a:lstStyle/>
          <a:p>
            <a:r>
              <a:rPr lang="de-DE" dirty="0"/>
              <a:t>AUFGABE 5 Datenanalyst </a:t>
            </a:r>
            <a:r>
              <a:rPr lang="de-DE" dirty="0" err="1"/>
              <a:t>queries</a:t>
            </a:r>
            <a:r>
              <a:rPr lang="de-DE" dirty="0"/>
              <a:t> 3/4</a:t>
            </a: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D1CF3CBE-A282-8B65-1F96-59D771FB65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1200" y="1872950"/>
            <a:ext cx="7327794" cy="4536559"/>
          </a:xfrm>
          <a:prstGeom prst="rect">
            <a:avLst/>
          </a:prstGeom>
        </p:spPr>
      </p:pic>
      <p:grpSp>
        <p:nvGrpSpPr>
          <p:cNvPr id="8" name="Inhaltsplatzhalter 6" descr="Abzeichen Tick1 Silhouette">
            <a:extLst>
              <a:ext uri="{FF2B5EF4-FFF2-40B4-BE49-F238E27FC236}">
                <a16:creationId xmlns:a16="http://schemas.microsoft.com/office/drawing/2014/main" id="{CCCDEED6-6780-6CD2-EFAB-F25A54EF77DE}"/>
              </a:ext>
            </a:extLst>
          </p:cNvPr>
          <p:cNvGrpSpPr/>
          <p:nvPr/>
        </p:nvGrpSpPr>
        <p:grpSpPr>
          <a:xfrm>
            <a:off x="8636410" y="5737097"/>
            <a:ext cx="594396" cy="594396"/>
            <a:chOff x="7258513" y="5619531"/>
            <a:chExt cx="594396" cy="594396"/>
          </a:xfrm>
          <a:solidFill>
            <a:srgbClr val="00B050"/>
          </a:solidFill>
        </p:grpSpPr>
        <p:sp>
          <p:nvSpPr>
            <p:cNvPr id="9" name="Freihandform: Form 8">
              <a:extLst>
                <a:ext uri="{FF2B5EF4-FFF2-40B4-BE49-F238E27FC236}">
                  <a16:creationId xmlns:a16="http://schemas.microsoft.com/office/drawing/2014/main" id="{87E968DF-F661-8C45-8A4E-5B15174BDB8D}"/>
                </a:ext>
              </a:extLst>
            </p:cNvPr>
            <p:cNvSpPr/>
            <p:nvPr/>
          </p:nvSpPr>
          <p:spPr>
            <a:xfrm>
              <a:off x="7258513" y="5619531"/>
              <a:ext cx="594396" cy="594396"/>
            </a:xfrm>
            <a:custGeom>
              <a:avLst/>
              <a:gdLst>
                <a:gd name="connsiteX0" fmla="*/ 297284 w 594396"/>
                <a:gd name="connsiteY0" fmla="*/ 0 h 594396"/>
                <a:gd name="connsiteX1" fmla="*/ 0 w 594396"/>
                <a:gd name="connsiteY1" fmla="*/ 297112 h 594396"/>
                <a:gd name="connsiteX2" fmla="*/ 297112 w 594396"/>
                <a:gd name="connsiteY2" fmla="*/ 594396 h 594396"/>
                <a:gd name="connsiteX3" fmla="*/ 594396 w 594396"/>
                <a:gd name="connsiteY3" fmla="*/ 297284 h 594396"/>
                <a:gd name="connsiteX4" fmla="*/ 594396 w 594396"/>
                <a:gd name="connsiteY4" fmla="*/ 297190 h 594396"/>
                <a:gd name="connsiteX5" fmla="*/ 297519 w 594396"/>
                <a:gd name="connsiteY5" fmla="*/ 0 h 594396"/>
                <a:gd name="connsiteX6" fmla="*/ 297284 w 594396"/>
                <a:gd name="connsiteY6" fmla="*/ 0 h 594396"/>
                <a:gd name="connsiteX7" fmla="*/ 297284 w 594396"/>
                <a:gd name="connsiteY7" fmla="*/ 578751 h 594396"/>
                <a:gd name="connsiteX8" fmla="*/ 15637 w 594396"/>
                <a:gd name="connsiteY8" fmla="*/ 297276 h 594396"/>
                <a:gd name="connsiteX9" fmla="*/ 297112 w 594396"/>
                <a:gd name="connsiteY9" fmla="*/ 15630 h 594396"/>
                <a:gd name="connsiteX10" fmla="*/ 578759 w 594396"/>
                <a:gd name="connsiteY10" fmla="*/ 297104 h 594396"/>
                <a:gd name="connsiteX11" fmla="*/ 578759 w 594396"/>
                <a:gd name="connsiteY11" fmla="*/ 297214 h 594396"/>
                <a:gd name="connsiteX12" fmla="*/ 297284 w 594396"/>
                <a:gd name="connsiteY12" fmla="*/ 578774 h 5943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94396" h="594396">
                  <a:moveTo>
                    <a:pt x="297284" y="0"/>
                  </a:moveTo>
                  <a:cubicBezTo>
                    <a:pt x="133146" y="-47"/>
                    <a:pt x="48" y="132974"/>
                    <a:pt x="0" y="297112"/>
                  </a:cubicBezTo>
                  <a:cubicBezTo>
                    <a:pt x="-47" y="461250"/>
                    <a:pt x="132974" y="594349"/>
                    <a:pt x="297112" y="594396"/>
                  </a:cubicBezTo>
                  <a:cubicBezTo>
                    <a:pt x="461250" y="594444"/>
                    <a:pt x="594349" y="461422"/>
                    <a:pt x="594396" y="297284"/>
                  </a:cubicBezTo>
                  <a:cubicBezTo>
                    <a:pt x="594396" y="297253"/>
                    <a:pt x="594396" y="297222"/>
                    <a:pt x="594396" y="297190"/>
                  </a:cubicBezTo>
                  <a:cubicBezTo>
                    <a:pt x="594482" y="133143"/>
                    <a:pt x="461566" y="86"/>
                    <a:pt x="297519" y="0"/>
                  </a:cubicBezTo>
                  <a:cubicBezTo>
                    <a:pt x="297441" y="0"/>
                    <a:pt x="297362" y="0"/>
                    <a:pt x="297284" y="0"/>
                  </a:cubicBezTo>
                  <a:close/>
                  <a:moveTo>
                    <a:pt x="297284" y="578751"/>
                  </a:moveTo>
                  <a:cubicBezTo>
                    <a:pt x="141783" y="578799"/>
                    <a:pt x="15685" y="452778"/>
                    <a:pt x="15637" y="297276"/>
                  </a:cubicBezTo>
                  <a:cubicBezTo>
                    <a:pt x="15590" y="141775"/>
                    <a:pt x="141611" y="15677"/>
                    <a:pt x="297112" y="15630"/>
                  </a:cubicBezTo>
                  <a:cubicBezTo>
                    <a:pt x="452614" y="15582"/>
                    <a:pt x="578711" y="141603"/>
                    <a:pt x="578759" y="297104"/>
                  </a:cubicBezTo>
                  <a:cubicBezTo>
                    <a:pt x="578759" y="297141"/>
                    <a:pt x="578759" y="297177"/>
                    <a:pt x="578759" y="297214"/>
                  </a:cubicBezTo>
                  <a:cubicBezTo>
                    <a:pt x="578604" y="452617"/>
                    <a:pt x="452688" y="578572"/>
                    <a:pt x="297284" y="578774"/>
                  </a:cubicBezTo>
                  <a:close/>
                </a:path>
              </a:pathLst>
            </a:custGeom>
            <a:solidFill>
              <a:srgbClr val="00B050"/>
            </a:solidFill>
            <a:ln w="773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0" name="Freihandform: Form 9">
              <a:extLst>
                <a:ext uri="{FF2B5EF4-FFF2-40B4-BE49-F238E27FC236}">
                  <a16:creationId xmlns:a16="http://schemas.microsoft.com/office/drawing/2014/main" id="{31080372-EA0B-1DB0-ECF7-8CBA81AA799C}"/>
                </a:ext>
              </a:extLst>
            </p:cNvPr>
            <p:cNvSpPr/>
            <p:nvPr/>
          </p:nvSpPr>
          <p:spPr>
            <a:xfrm>
              <a:off x="7396185" y="5792216"/>
              <a:ext cx="338770" cy="241036"/>
            </a:xfrm>
            <a:custGeom>
              <a:avLst/>
              <a:gdLst>
                <a:gd name="connsiteX0" fmla="*/ 108790 w 338770"/>
                <a:gd name="connsiteY0" fmla="*/ 218925 h 241036"/>
                <a:gd name="connsiteX1" fmla="*/ 11056 w 338770"/>
                <a:gd name="connsiteY1" fmla="*/ 121190 h 241036"/>
                <a:gd name="connsiteX2" fmla="*/ 0 w 338770"/>
                <a:gd name="connsiteY2" fmla="*/ 132246 h 241036"/>
                <a:gd name="connsiteX3" fmla="*/ 108790 w 338770"/>
                <a:gd name="connsiteY3" fmla="*/ 241036 h 241036"/>
                <a:gd name="connsiteX4" fmla="*/ 338770 w 338770"/>
                <a:gd name="connsiteY4" fmla="*/ 11056 h 241036"/>
                <a:gd name="connsiteX5" fmla="*/ 327715 w 338770"/>
                <a:gd name="connsiteY5" fmla="*/ 0 h 241036"/>
                <a:gd name="connsiteX6" fmla="*/ 108790 w 338770"/>
                <a:gd name="connsiteY6" fmla="*/ 218925 h 241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38770" h="241036">
                  <a:moveTo>
                    <a:pt x="108790" y="218925"/>
                  </a:moveTo>
                  <a:lnTo>
                    <a:pt x="11056" y="121190"/>
                  </a:lnTo>
                  <a:lnTo>
                    <a:pt x="0" y="132246"/>
                  </a:lnTo>
                  <a:lnTo>
                    <a:pt x="108790" y="241036"/>
                  </a:lnTo>
                  <a:lnTo>
                    <a:pt x="338770" y="11056"/>
                  </a:lnTo>
                  <a:lnTo>
                    <a:pt x="327715" y="0"/>
                  </a:lnTo>
                  <a:lnTo>
                    <a:pt x="108790" y="218925"/>
                  </a:lnTo>
                  <a:close/>
                </a:path>
              </a:pathLst>
            </a:custGeom>
            <a:solidFill>
              <a:srgbClr val="00B050"/>
            </a:solidFill>
            <a:ln w="773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</p:grpSp>
    </p:spTree>
    <p:extLst>
      <p:ext uri="{BB962C8B-B14F-4D97-AF65-F5344CB8AC3E}">
        <p14:creationId xmlns:p14="http://schemas.microsoft.com/office/powerpoint/2010/main" val="3269832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FAD0BE9-73C2-7B99-E9B8-AC370825E2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9977" y="381000"/>
            <a:ext cx="9903823" cy="1295400"/>
          </a:xfrm>
        </p:spPr>
        <p:txBody>
          <a:bodyPr/>
          <a:lstStyle/>
          <a:p>
            <a:r>
              <a:rPr lang="de-DE" dirty="0"/>
              <a:t>AUFGABE 5 Datenanalyst </a:t>
            </a:r>
            <a:r>
              <a:rPr lang="de-DE" dirty="0" err="1"/>
              <a:t>queries</a:t>
            </a:r>
            <a:r>
              <a:rPr lang="de-DE" dirty="0"/>
              <a:t> 4/4</a:t>
            </a:r>
          </a:p>
        </p:txBody>
      </p:sp>
      <p:grpSp>
        <p:nvGrpSpPr>
          <p:cNvPr id="12" name="Gruppieren 11">
            <a:extLst>
              <a:ext uri="{FF2B5EF4-FFF2-40B4-BE49-F238E27FC236}">
                <a16:creationId xmlns:a16="http://schemas.microsoft.com/office/drawing/2014/main" id="{8B38F5E5-7FDB-2833-C5BB-6DDE30C562B0}"/>
              </a:ext>
            </a:extLst>
          </p:cNvPr>
          <p:cNvGrpSpPr/>
          <p:nvPr/>
        </p:nvGrpSpPr>
        <p:grpSpPr>
          <a:xfrm>
            <a:off x="3122968" y="1778211"/>
            <a:ext cx="5507956" cy="4944454"/>
            <a:chOff x="2430636" y="1680239"/>
            <a:chExt cx="5507956" cy="4944454"/>
          </a:xfrm>
        </p:grpSpPr>
        <p:pic>
          <p:nvPicPr>
            <p:cNvPr id="6" name="Grafik 5">
              <a:extLst>
                <a:ext uri="{FF2B5EF4-FFF2-40B4-BE49-F238E27FC236}">
                  <a16:creationId xmlns:a16="http://schemas.microsoft.com/office/drawing/2014/main" id="{C891DCC0-F517-FC49-147C-379244FB010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430636" y="1680239"/>
              <a:ext cx="5507956" cy="4944454"/>
            </a:xfrm>
            <a:prstGeom prst="rect">
              <a:avLst/>
            </a:prstGeom>
          </p:spPr>
        </p:pic>
        <p:grpSp>
          <p:nvGrpSpPr>
            <p:cNvPr id="9" name="Inhaltsplatzhalter 6" descr="Abzeichen Tick1 Silhouette">
              <a:extLst>
                <a:ext uri="{FF2B5EF4-FFF2-40B4-BE49-F238E27FC236}">
                  <a16:creationId xmlns:a16="http://schemas.microsoft.com/office/drawing/2014/main" id="{3ADD1D09-D948-88AD-2883-70D7E8C4EEC2}"/>
                </a:ext>
              </a:extLst>
            </p:cNvPr>
            <p:cNvGrpSpPr/>
            <p:nvPr/>
          </p:nvGrpSpPr>
          <p:grpSpPr>
            <a:xfrm>
              <a:off x="7298000" y="6030297"/>
              <a:ext cx="594396" cy="594396"/>
              <a:chOff x="6821206" y="6056423"/>
              <a:chExt cx="594396" cy="594396"/>
            </a:xfrm>
            <a:solidFill>
              <a:srgbClr val="00B050"/>
            </a:solidFill>
          </p:grpSpPr>
          <p:sp>
            <p:nvSpPr>
              <p:cNvPr id="10" name="Freihandform: Form 9">
                <a:extLst>
                  <a:ext uri="{FF2B5EF4-FFF2-40B4-BE49-F238E27FC236}">
                    <a16:creationId xmlns:a16="http://schemas.microsoft.com/office/drawing/2014/main" id="{AC558672-4847-DD64-6C89-CC899E06C4D9}"/>
                  </a:ext>
                </a:extLst>
              </p:cNvPr>
              <p:cNvSpPr/>
              <p:nvPr/>
            </p:nvSpPr>
            <p:spPr>
              <a:xfrm>
                <a:off x="6821206" y="6056423"/>
                <a:ext cx="594396" cy="594396"/>
              </a:xfrm>
              <a:custGeom>
                <a:avLst/>
                <a:gdLst>
                  <a:gd name="connsiteX0" fmla="*/ 297284 w 594396"/>
                  <a:gd name="connsiteY0" fmla="*/ 0 h 594396"/>
                  <a:gd name="connsiteX1" fmla="*/ 0 w 594396"/>
                  <a:gd name="connsiteY1" fmla="*/ 297112 h 594396"/>
                  <a:gd name="connsiteX2" fmla="*/ 297112 w 594396"/>
                  <a:gd name="connsiteY2" fmla="*/ 594396 h 594396"/>
                  <a:gd name="connsiteX3" fmla="*/ 594396 w 594396"/>
                  <a:gd name="connsiteY3" fmla="*/ 297284 h 594396"/>
                  <a:gd name="connsiteX4" fmla="*/ 594396 w 594396"/>
                  <a:gd name="connsiteY4" fmla="*/ 297190 h 594396"/>
                  <a:gd name="connsiteX5" fmla="*/ 297519 w 594396"/>
                  <a:gd name="connsiteY5" fmla="*/ 0 h 594396"/>
                  <a:gd name="connsiteX6" fmla="*/ 297284 w 594396"/>
                  <a:gd name="connsiteY6" fmla="*/ 0 h 594396"/>
                  <a:gd name="connsiteX7" fmla="*/ 297284 w 594396"/>
                  <a:gd name="connsiteY7" fmla="*/ 578751 h 594396"/>
                  <a:gd name="connsiteX8" fmla="*/ 15637 w 594396"/>
                  <a:gd name="connsiteY8" fmla="*/ 297276 h 594396"/>
                  <a:gd name="connsiteX9" fmla="*/ 297112 w 594396"/>
                  <a:gd name="connsiteY9" fmla="*/ 15630 h 594396"/>
                  <a:gd name="connsiteX10" fmla="*/ 578759 w 594396"/>
                  <a:gd name="connsiteY10" fmla="*/ 297104 h 594396"/>
                  <a:gd name="connsiteX11" fmla="*/ 578759 w 594396"/>
                  <a:gd name="connsiteY11" fmla="*/ 297214 h 594396"/>
                  <a:gd name="connsiteX12" fmla="*/ 297284 w 594396"/>
                  <a:gd name="connsiteY12" fmla="*/ 578774 h 5943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594396" h="594396">
                    <a:moveTo>
                      <a:pt x="297284" y="0"/>
                    </a:moveTo>
                    <a:cubicBezTo>
                      <a:pt x="133146" y="-47"/>
                      <a:pt x="48" y="132974"/>
                      <a:pt x="0" y="297112"/>
                    </a:cubicBezTo>
                    <a:cubicBezTo>
                      <a:pt x="-47" y="461250"/>
                      <a:pt x="132974" y="594349"/>
                      <a:pt x="297112" y="594396"/>
                    </a:cubicBezTo>
                    <a:cubicBezTo>
                      <a:pt x="461250" y="594444"/>
                      <a:pt x="594349" y="461422"/>
                      <a:pt x="594396" y="297284"/>
                    </a:cubicBezTo>
                    <a:cubicBezTo>
                      <a:pt x="594396" y="297253"/>
                      <a:pt x="594396" y="297222"/>
                      <a:pt x="594396" y="297190"/>
                    </a:cubicBezTo>
                    <a:cubicBezTo>
                      <a:pt x="594482" y="133143"/>
                      <a:pt x="461566" y="86"/>
                      <a:pt x="297519" y="0"/>
                    </a:cubicBezTo>
                    <a:cubicBezTo>
                      <a:pt x="297441" y="0"/>
                      <a:pt x="297362" y="0"/>
                      <a:pt x="297284" y="0"/>
                    </a:cubicBezTo>
                    <a:close/>
                    <a:moveTo>
                      <a:pt x="297284" y="578751"/>
                    </a:moveTo>
                    <a:cubicBezTo>
                      <a:pt x="141783" y="578799"/>
                      <a:pt x="15685" y="452778"/>
                      <a:pt x="15637" y="297276"/>
                    </a:cubicBezTo>
                    <a:cubicBezTo>
                      <a:pt x="15590" y="141775"/>
                      <a:pt x="141611" y="15677"/>
                      <a:pt x="297112" y="15630"/>
                    </a:cubicBezTo>
                    <a:cubicBezTo>
                      <a:pt x="452614" y="15582"/>
                      <a:pt x="578711" y="141603"/>
                      <a:pt x="578759" y="297104"/>
                    </a:cubicBezTo>
                    <a:cubicBezTo>
                      <a:pt x="578759" y="297141"/>
                      <a:pt x="578759" y="297177"/>
                      <a:pt x="578759" y="297214"/>
                    </a:cubicBezTo>
                    <a:cubicBezTo>
                      <a:pt x="578604" y="452617"/>
                      <a:pt x="452688" y="578572"/>
                      <a:pt x="297284" y="578774"/>
                    </a:cubicBezTo>
                    <a:close/>
                  </a:path>
                </a:pathLst>
              </a:custGeom>
              <a:solidFill>
                <a:srgbClr val="00B050"/>
              </a:solidFill>
              <a:ln w="77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 dirty="0"/>
              </a:p>
            </p:txBody>
          </p:sp>
          <p:sp>
            <p:nvSpPr>
              <p:cNvPr id="11" name="Freihandform: Form 10">
                <a:extLst>
                  <a:ext uri="{FF2B5EF4-FFF2-40B4-BE49-F238E27FC236}">
                    <a16:creationId xmlns:a16="http://schemas.microsoft.com/office/drawing/2014/main" id="{1F80684D-8DDE-8A53-8D4C-5B56B037FFC9}"/>
                  </a:ext>
                </a:extLst>
              </p:cNvPr>
              <p:cNvSpPr/>
              <p:nvPr/>
            </p:nvSpPr>
            <p:spPr>
              <a:xfrm>
                <a:off x="6958878" y="6229108"/>
                <a:ext cx="338770" cy="241036"/>
              </a:xfrm>
              <a:custGeom>
                <a:avLst/>
                <a:gdLst>
                  <a:gd name="connsiteX0" fmla="*/ 108790 w 338770"/>
                  <a:gd name="connsiteY0" fmla="*/ 218925 h 241036"/>
                  <a:gd name="connsiteX1" fmla="*/ 11056 w 338770"/>
                  <a:gd name="connsiteY1" fmla="*/ 121190 h 241036"/>
                  <a:gd name="connsiteX2" fmla="*/ 0 w 338770"/>
                  <a:gd name="connsiteY2" fmla="*/ 132246 h 241036"/>
                  <a:gd name="connsiteX3" fmla="*/ 108790 w 338770"/>
                  <a:gd name="connsiteY3" fmla="*/ 241036 h 241036"/>
                  <a:gd name="connsiteX4" fmla="*/ 338770 w 338770"/>
                  <a:gd name="connsiteY4" fmla="*/ 11056 h 241036"/>
                  <a:gd name="connsiteX5" fmla="*/ 327715 w 338770"/>
                  <a:gd name="connsiteY5" fmla="*/ 0 h 241036"/>
                  <a:gd name="connsiteX6" fmla="*/ 108790 w 338770"/>
                  <a:gd name="connsiteY6" fmla="*/ 218925 h 2410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38770" h="241036">
                    <a:moveTo>
                      <a:pt x="108790" y="218925"/>
                    </a:moveTo>
                    <a:lnTo>
                      <a:pt x="11056" y="121190"/>
                    </a:lnTo>
                    <a:lnTo>
                      <a:pt x="0" y="132246"/>
                    </a:lnTo>
                    <a:lnTo>
                      <a:pt x="108790" y="241036"/>
                    </a:lnTo>
                    <a:lnTo>
                      <a:pt x="338770" y="11056"/>
                    </a:lnTo>
                    <a:lnTo>
                      <a:pt x="327715" y="0"/>
                    </a:lnTo>
                    <a:lnTo>
                      <a:pt x="108790" y="218925"/>
                    </a:lnTo>
                    <a:close/>
                  </a:path>
                </a:pathLst>
              </a:custGeom>
              <a:solidFill>
                <a:srgbClr val="00B050"/>
              </a:solidFill>
              <a:ln w="77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9715923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8240790-CAE5-3E25-7996-F9612614E9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AUFGABE 6 Control Triggers 1/6 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95C5F0B0-D2EE-E607-055E-12B150816AEF}"/>
              </a:ext>
            </a:extLst>
          </p:cNvPr>
          <p:cNvSpPr txBox="1"/>
          <p:nvPr/>
        </p:nvSpPr>
        <p:spPr>
          <a:xfrm>
            <a:off x="2406041" y="2396836"/>
            <a:ext cx="7139011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sz="3200" dirty="0" err="1"/>
              <a:t>Erfassung</a:t>
            </a:r>
            <a:r>
              <a:rPr lang="en-US" sz="3200" dirty="0"/>
              <a:t> des </a:t>
            </a:r>
            <a:r>
              <a:rPr lang="en-US" sz="3200" dirty="0" err="1"/>
              <a:t>Zugriffsprotokoll</a:t>
            </a:r>
            <a:br>
              <a:rPr lang="en-US" sz="3200" dirty="0"/>
            </a:br>
            <a:endParaRPr lang="en-US" sz="3200" b="1" dirty="0"/>
          </a:p>
          <a:p>
            <a:pPr marL="342900" indent="-342900">
              <a:buAutoNum type="arabicPeriod"/>
            </a:pPr>
            <a:r>
              <a:rPr lang="en-US" sz="3200" dirty="0"/>
              <a:t>Trigger </a:t>
            </a:r>
            <a:r>
              <a:rPr lang="en-US" sz="3200" dirty="0" err="1"/>
              <a:t>erstellen</a:t>
            </a:r>
            <a:r>
              <a:rPr lang="en-US" sz="3200" dirty="0"/>
              <a:t> und </a:t>
            </a:r>
            <a:r>
              <a:rPr lang="en-US" sz="3200" dirty="0" err="1"/>
              <a:t>mit</a:t>
            </a:r>
            <a:r>
              <a:rPr lang="en-US" sz="3200" dirty="0"/>
              <a:t> </a:t>
            </a:r>
            <a:r>
              <a:rPr lang="en-US" sz="3200" dirty="0" err="1"/>
              <a:t>Tabellen</a:t>
            </a:r>
            <a:r>
              <a:rPr lang="en-US" sz="3200" dirty="0"/>
              <a:t> </a:t>
            </a:r>
            <a:r>
              <a:rPr lang="en-US" sz="3200" dirty="0" err="1"/>
              <a:t>linken</a:t>
            </a:r>
            <a:br>
              <a:rPr lang="en-US" sz="3200" dirty="0"/>
            </a:br>
            <a:endParaRPr lang="en-US" sz="3200" dirty="0"/>
          </a:p>
          <a:p>
            <a:pPr marL="342900" indent="-342900">
              <a:buAutoNum type="arabicPeriod"/>
            </a:pPr>
            <a:r>
              <a:rPr lang="en-US" sz="3200" dirty="0"/>
              <a:t> </a:t>
            </a:r>
            <a:r>
              <a:rPr lang="en-US" sz="3200" dirty="0" err="1"/>
              <a:t>Protokoll</a:t>
            </a:r>
            <a:r>
              <a:rPr lang="en-US" sz="3200" dirty="0"/>
              <a:t> </a:t>
            </a:r>
            <a:r>
              <a:rPr lang="en-US" sz="3200" dirty="0" err="1"/>
              <a:t>aufrufen</a:t>
            </a:r>
            <a:endParaRPr lang="de-DE" sz="3200" dirty="0"/>
          </a:p>
        </p:txBody>
      </p:sp>
      <p:pic>
        <p:nvPicPr>
          <p:cNvPr id="9" name="Grafik 8" descr="Klemmbrett abgehakt Silhouette">
            <a:extLst>
              <a:ext uri="{FF2B5EF4-FFF2-40B4-BE49-F238E27FC236}">
                <a16:creationId xmlns:a16="http://schemas.microsoft.com/office/drawing/2014/main" id="{7270F2E3-1F07-C175-5F44-BBCAF57ECE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55906" y="2362198"/>
            <a:ext cx="559469" cy="559469"/>
          </a:xfrm>
          <a:prstGeom prst="rect">
            <a:avLst/>
          </a:prstGeom>
        </p:spPr>
      </p:pic>
      <p:pic>
        <p:nvPicPr>
          <p:cNvPr id="11" name="Grafik 10" descr="Netzplandiagramm Silhouette">
            <a:extLst>
              <a:ext uri="{FF2B5EF4-FFF2-40B4-BE49-F238E27FC236}">
                <a16:creationId xmlns:a16="http://schemas.microsoft.com/office/drawing/2014/main" id="{53667148-CFE5-7F59-5E5B-5650E104453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545052" y="3439569"/>
            <a:ext cx="497306" cy="497306"/>
          </a:xfrm>
          <a:prstGeom prst="rect">
            <a:avLst/>
          </a:prstGeom>
        </p:spPr>
      </p:pic>
      <p:pic>
        <p:nvPicPr>
          <p:cNvPr id="17" name="Grafik 16" descr="Augenscan Silhouette">
            <a:extLst>
              <a:ext uri="{FF2B5EF4-FFF2-40B4-BE49-F238E27FC236}">
                <a16:creationId xmlns:a16="http://schemas.microsoft.com/office/drawing/2014/main" id="{E598529A-9C92-8382-E78F-E468105068E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171804" y="4328293"/>
            <a:ext cx="623088" cy="623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47895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k 5">
            <a:extLst>
              <a:ext uri="{FF2B5EF4-FFF2-40B4-BE49-F238E27FC236}">
                <a16:creationId xmlns:a16="http://schemas.microsoft.com/office/drawing/2014/main" id="{14E34A50-26F4-5C29-EE51-E3E244EC0E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5650" y="2427612"/>
            <a:ext cx="5840699" cy="2688576"/>
          </a:xfrm>
          <a:prstGeom prst="rect">
            <a:avLst/>
          </a:prstGeom>
        </p:spPr>
      </p:pic>
      <p:sp>
        <p:nvSpPr>
          <p:cNvPr id="5" name="Titel 1">
            <a:extLst>
              <a:ext uri="{FF2B5EF4-FFF2-40B4-BE49-F238E27FC236}">
                <a16:creationId xmlns:a16="http://schemas.microsoft.com/office/drawing/2014/main" id="{60374210-C6BC-4A88-CF2E-4FB57CA23F82}"/>
              </a:ext>
            </a:extLst>
          </p:cNvPr>
          <p:cNvSpPr txBox="1">
            <a:spLocks/>
          </p:cNvSpPr>
          <p:nvPr/>
        </p:nvSpPr>
        <p:spPr>
          <a:xfrm>
            <a:off x="1731818" y="512618"/>
            <a:ext cx="9372600" cy="12954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400" kern="1200" cap="all" baseline="0">
                <a:solidFill>
                  <a:schemeClr val="accent1">
                    <a:lumMod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dirty="0"/>
              <a:t>AUFGABE 6 Control Triggers 2/6 </a:t>
            </a:r>
          </a:p>
        </p:txBody>
      </p:sp>
      <p:pic>
        <p:nvPicPr>
          <p:cNvPr id="7" name="Grafik 6" descr="Klemmbrett abgehakt Silhouette">
            <a:extLst>
              <a:ext uri="{FF2B5EF4-FFF2-40B4-BE49-F238E27FC236}">
                <a16:creationId xmlns:a16="http://schemas.microsoft.com/office/drawing/2014/main" id="{B6054FD3-B602-87CF-DC46-356CC79239E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902996" y="2427612"/>
            <a:ext cx="846221" cy="846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91385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93BEDF1-E579-34BD-8610-7BF4907D45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AUFGABE 6 Control Triggers 3/6</a:t>
            </a:r>
          </a:p>
        </p:txBody>
      </p:sp>
      <p:pic>
        <p:nvPicPr>
          <p:cNvPr id="9" name="Grafik 8" descr="Netzplandiagramm Silhouette">
            <a:extLst>
              <a:ext uri="{FF2B5EF4-FFF2-40B4-BE49-F238E27FC236}">
                <a16:creationId xmlns:a16="http://schemas.microsoft.com/office/drawing/2014/main" id="{B5501125-3707-7EFA-ED7D-31404629C0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981200" y="1925673"/>
            <a:ext cx="729917" cy="729917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B3C5B1CA-1F8E-67FB-6DEE-97A31E03BB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50537" y="1925673"/>
            <a:ext cx="4485363" cy="4247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09858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7614111-22D6-31F2-2399-4E2DB805C3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AUFGABE 6 Control Triggers 4/6</a:t>
            </a: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1AE3A233-A5A1-8C4D-917B-A6139EE8793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356"/>
          <a:stretch/>
        </p:blipFill>
        <p:spPr>
          <a:xfrm>
            <a:off x="2783534" y="1925813"/>
            <a:ext cx="5723116" cy="4836737"/>
          </a:xfrm>
          <a:prstGeom prst="rect">
            <a:avLst/>
          </a:prstGeom>
        </p:spPr>
      </p:pic>
      <p:pic>
        <p:nvPicPr>
          <p:cNvPr id="7" name="Grafik 6" descr="Augenscan Silhouette">
            <a:extLst>
              <a:ext uri="{FF2B5EF4-FFF2-40B4-BE49-F238E27FC236}">
                <a16:creationId xmlns:a16="http://schemas.microsoft.com/office/drawing/2014/main" id="{1FF956B5-FA6F-D4A0-0662-CACEF6A3002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12362" y="1925813"/>
            <a:ext cx="712086" cy="712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73145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F86AE91-9629-D7B0-CD5E-2FCD59D1AE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AUFGABE 6 Control Triggers 5/6 </a:t>
            </a:r>
          </a:p>
        </p:txBody>
      </p:sp>
      <p:pic>
        <p:nvPicPr>
          <p:cNvPr id="17" name="Grafik 16">
            <a:extLst>
              <a:ext uri="{FF2B5EF4-FFF2-40B4-BE49-F238E27FC236}">
                <a16:creationId xmlns:a16="http://schemas.microsoft.com/office/drawing/2014/main" id="{32B278E9-874F-3621-D3CA-5530975120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980" y="2079712"/>
            <a:ext cx="7254039" cy="2082653"/>
          </a:xfrm>
          <a:prstGeom prst="rect">
            <a:avLst/>
          </a:prstGeom>
        </p:spPr>
      </p:pic>
      <p:pic>
        <p:nvPicPr>
          <p:cNvPr id="21" name="Grafik 20">
            <a:extLst>
              <a:ext uri="{FF2B5EF4-FFF2-40B4-BE49-F238E27FC236}">
                <a16:creationId xmlns:a16="http://schemas.microsoft.com/office/drawing/2014/main" id="{6AFFF3B1-2D50-7027-8E3A-643005A450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7397" y="4426614"/>
            <a:ext cx="3323519" cy="609092"/>
          </a:xfrm>
          <a:prstGeom prst="rect">
            <a:avLst/>
          </a:prstGeom>
        </p:spPr>
      </p:pic>
      <p:grpSp>
        <p:nvGrpSpPr>
          <p:cNvPr id="22" name="Gruppieren 21">
            <a:extLst>
              <a:ext uri="{FF2B5EF4-FFF2-40B4-BE49-F238E27FC236}">
                <a16:creationId xmlns:a16="http://schemas.microsoft.com/office/drawing/2014/main" id="{8E7C7E17-889E-CB01-7826-4F425B75F6AB}"/>
              </a:ext>
            </a:extLst>
          </p:cNvPr>
          <p:cNvGrpSpPr/>
          <p:nvPr/>
        </p:nvGrpSpPr>
        <p:grpSpPr>
          <a:xfrm>
            <a:off x="1545086" y="5371675"/>
            <a:ext cx="9424911" cy="591475"/>
            <a:chOff x="408822" y="4278784"/>
            <a:chExt cx="9424911" cy="591475"/>
          </a:xfrm>
        </p:grpSpPr>
        <p:pic>
          <p:nvPicPr>
            <p:cNvPr id="23" name="Grafik 22" descr="Abzeichen Tick1 Silhouette">
              <a:extLst>
                <a:ext uri="{FF2B5EF4-FFF2-40B4-BE49-F238E27FC236}">
                  <a16:creationId xmlns:a16="http://schemas.microsoft.com/office/drawing/2014/main" id="{BD0564D4-9412-2E73-D73D-D4FADA5BF15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9242259" y="4278784"/>
              <a:ext cx="591474" cy="591474"/>
            </a:xfrm>
            <a:prstGeom prst="rect">
              <a:avLst/>
            </a:prstGeom>
          </p:spPr>
        </p:pic>
        <p:pic>
          <p:nvPicPr>
            <p:cNvPr id="24" name="Grafik 23">
              <a:extLst>
                <a:ext uri="{FF2B5EF4-FFF2-40B4-BE49-F238E27FC236}">
                  <a16:creationId xmlns:a16="http://schemas.microsoft.com/office/drawing/2014/main" id="{5288C2FF-8849-5F9E-16DF-6FB12087BDC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8822" y="4278785"/>
              <a:ext cx="8705099" cy="591474"/>
            </a:xfrm>
            <a:prstGeom prst="rect">
              <a:avLst/>
            </a:prstGeom>
          </p:spPr>
        </p:pic>
      </p:grpSp>
      <p:pic>
        <p:nvPicPr>
          <p:cNvPr id="25" name="Grafik 24" descr="Augenscan Silhouette">
            <a:extLst>
              <a:ext uri="{FF2B5EF4-FFF2-40B4-BE49-F238E27FC236}">
                <a16:creationId xmlns:a16="http://schemas.microsoft.com/office/drawing/2014/main" id="{065DA54F-9AE1-A598-0B08-35B930BC9F8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625157" y="1949155"/>
            <a:ext cx="712086" cy="712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95042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F1CA372-88C4-68A7-AE28-23E7A22C5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AUFGABE 6 Control Triggers 6/6 </a:t>
            </a: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DA26DD54-A181-8ECE-4A3C-DC47A9F75F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8057" y="2101198"/>
            <a:ext cx="3510928" cy="2395415"/>
          </a:xfrm>
          <a:prstGeom prst="rect">
            <a:avLst/>
          </a:prstGeom>
        </p:spPr>
      </p:pic>
      <p:pic>
        <p:nvPicPr>
          <p:cNvPr id="9" name="Inhaltsplatzhalter 5">
            <a:extLst>
              <a:ext uri="{FF2B5EF4-FFF2-40B4-BE49-F238E27FC236}">
                <a16:creationId xmlns:a16="http://schemas.microsoft.com/office/drawing/2014/main" id="{DE4B2D22-F88F-9076-E7C6-358E18E8DB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8057" y="4756802"/>
            <a:ext cx="6446922" cy="1771131"/>
          </a:xfrm>
          <a:prstGeom prst="rect">
            <a:avLst/>
          </a:prstGeom>
        </p:spPr>
      </p:pic>
      <p:pic>
        <p:nvPicPr>
          <p:cNvPr id="13" name="Grafik 12" descr="Abzeichen Tick1 Silhouette">
            <a:extLst>
              <a:ext uri="{FF2B5EF4-FFF2-40B4-BE49-F238E27FC236}">
                <a16:creationId xmlns:a16="http://schemas.microsoft.com/office/drawing/2014/main" id="{8D77CC55-48AB-9238-3673-0ADB364CD21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688805" y="5185167"/>
            <a:ext cx="914400" cy="914400"/>
          </a:xfrm>
          <a:prstGeom prst="rect">
            <a:avLst/>
          </a:prstGeom>
        </p:spPr>
      </p:pic>
      <p:pic>
        <p:nvPicPr>
          <p:cNvPr id="14" name="Grafik 13" descr="Augenscan Silhouette">
            <a:extLst>
              <a:ext uri="{FF2B5EF4-FFF2-40B4-BE49-F238E27FC236}">
                <a16:creationId xmlns:a16="http://schemas.microsoft.com/office/drawing/2014/main" id="{20132584-9686-7769-90B0-A57AA9782A4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433368" y="2101198"/>
            <a:ext cx="712086" cy="712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87256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CE787B2-2D30-81BA-DFFE-E7C549B46E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49650" y="431800"/>
            <a:ext cx="5270500" cy="1295400"/>
          </a:xfrm>
        </p:spPr>
        <p:txBody>
          <a:bodyPr/>
          <a:lstStyle/>
          <a:p>
            <a:r>
              <a:rPr lang="en-US" dirty="0" err="1"/>
              <a:t>Schlußfolgerung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B2706FE-DF51-DAE8-B20F-7394F80EBF7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492500" y="2501900"/>
            <a:ext cx="4572000" cy="2857500"/>
          </a:xfrm>
        </p:spPr>
        <p:txBody>
          <a:bodyPr/>
          <a:lstStyle/>
          <a:p>
            <a:r>
              <a:rPr lang="de-DE" dirty="0"/>
              <a:t>Strukturierte Datenverwaltung  </a:t>
            </a:r>
          </a:p>
          <a:p>
            <a:r>
              <a:rPr lang="de-DE" dirty="0"/>
              <a:t>Erhöhte Sicherheit</a:t>
            </a:r>
          </a:p>
          <a:p>
            <a:r>
              <a:rPr lang="de-DE" dirty="0"/>
              <a:t>Transparenz und Compliance</a:t>
            </a:r>
          </a:p>
          <a:p>
            <a:r>
              <a:rPr lang="de-DE" dirty="0"/>
              <a:t>Effiziente Analyse</a:t>
            </a:r>
          </a:p>
          <a:p>
            <a:r>
              <a:rPr lang="de-DE" dirty="0"/>
              <a:t>Langfristige Skalierbarkeit</a:t>
            </a:r>
          </a:p>
        </p:txBody>
      </p:sp>
      <p:sp>
        <p:nvSpPr>
          <p:cNvPr id="7" name="Inhaltsplatzhalter 2">
            <a:extLst>
              <a:ext uri="{FF2B5EF4-FFF2-40B4-BE49-F238E27FC236}">
                <a16:creationId xmlns:a16="http://schemas.microsoft.com/office/drawing/2014/main" id="{5D223CBA-798C-F960-F607-CA6EC671DE74}"/>
              </a:ext>
            </a:extLst>
          </p:cNvPr>
          <p:cNvSpPr txBox="1">
            <a:spLocks/>
          </p:cNvSpPr>
          <p:nvPr/>
        </p:nvSpPr>
        <p:spPr>
          <a:xfrm>
            <a:off x="6667500" y="1898650"/>
            <a:ext cx="4572000" cy="44805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74320" indent="-27432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SzPct val="100000"/>
              <a:buFont typeface="Arial" pitchFamily="34" charset="0"/>
              <a:buChar char="▪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7432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SzPct val="100000"/>
              <a:buFont typeface="Arial" pitchFamily="34" charset="0"/>
              <a:buChar char="▪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SzPct val="100000"/>
              <a:buFont typeface="Arial" pitchFamily="34" charset="0"/>
              <a:buChar char="▪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34440" indent="-18288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100000"/>
              <a:buFont typeface="Arial" pitchFamily="34" charset="0"/>
              <a:buChar char="▪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63040" indent="-18288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100000"/>
              <a:buFont typeface="Arial" pitchFamily="34" charset="0"/>
              <a:buChar char="▪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91640" indent="-18288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100000"/>
              <a:buFont typeface="Arial" pitchFamily="34" charset="0"/>
              <a:buChar char="▪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74520" indent="-18288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100000"/>
              <a:buFont typeface="Arial" pitchFamily="34" charset="0"/>
              <a:buChar char="▪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100000"/>
              <a:buFont typeface="Arial" pitchFamily="34" charset="0"/>
              <a:buChar char="▪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331720" indent="-18288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SzPct val="100000"/>
              <a:buFont typeface="Arial" pitchFamily="34" charset="0"/>
              <a:buChar char="▪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de-DE" dirty="0"/>
          </a:p>
        </p:txBody>
      </p:sp>
      <p:pic>
        <p:nvPicPr>
          <p:cNvPr id="5" name="Graphic 4" descr="Brainstorm outline">
            <a:extLst>
              <a:ext uri="{FF2B5EF4-FFF2-40B4-BE49-F238E27FC236}">
                <a16:creationId xmlns:a16="http://schemas.microsoft.com/office/drawing/2014/main" id="{AFC32BA0-6747-F8D6-8950-B3DA5B21A39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820150" y="749969"/>
            <a:ext cx="914400" cy="914400"/>
          </a:xfrm>
          <a:prstGeom prst="rect">
            <a:avLst/>
          </a:prstGeom>
        </p:spPr>
      </p:pic>
      <p:pic>
        <p:nvPicPr>
          <p:cNvPr id="4" name="Grafik 3" descr="Datenbank Silhouette">
            <a:extLst>
              <a:ext uri="{FF2B5EF4-FFF2-40B4-BE49-F238E27FC236}">
                <a16:creationId xmlns:a16="http://schemas.microsoft.com/office/drawing/2014/main" id="{FCE71498-4258-4C09-D2AB-A996A2B9709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774347" y="2437662"/>
            <a:ext cx="531416" cy="531416"/>
          </a:xfrm>
          <a:prstGeom prst="rect">
            <a:avLst/>
          </a:prstGeom>
        </p:spPr>
      </p:pic>
      <p:pic>
        <p:nvPicPr>
          <p:cNvPr id="8" name="Grafik 7" descr="Entsperren Silhouette">
            <a:extLst>
              <a:ext uri="{FF2B5EF4-FFF2-40B4-BE49-F238E27FC236}">
                <a16:creationId xmlns:a16="http://schemas.microsoft.com/office/drawing/2014/main" id="{09FF916D-09DB-E56A-B8D8-DB5F29762EA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777680" y="2980027"/>
            <a:ext cx="531416" cy="531416"/>
          </a:xfrm>
          <a:prstGeom prst="rect">
            <a:avLst/>
          </a:prstGeom>
        </p:spPr>
      </p:pic>
      <p:pic>
        <p:nvPicPr>
          <p:cNvPr id="9" name="Grafik 8" descr="Klemmbrett abgehakt Silhouette">
            <a:extLst>
              <a:ext uri="{FF2B5EF4-FFF2-40B4-BE49-F238E27FC236}">
                <a16:creationId xmlns:a16="http://schemas.microsoft.com/office/drawing/2014/main" id="{232A15D6-4153-05A0-02CE-5B56425196B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777680" y="3583277"/>
            <a:ext cx="531416" cy="531416"/>
          </a:xfrm>
          <a:prstGeom prst="rect">
            <a:avLst/>
          </a:prstGeom>
        </p:spPr>
      </p:pic>
      <p:pic>
        <p:nvPicPr>
          <p:cNvPr id="11" name="Grafik 10" descr="Lupe Silhouette">
            <a:extLst>
              <a:ext uri="{FF2B5EF4-FFF2-40B4-BE49-F238E27FC236}">
                <a16:creationId xmlns:a16="http://schemas.microsoft.com/office/drawing/2014/main" id="{C54179F0-86C0-5607-BF0D-EB24C71E87B4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836368" y="4151499"/>
            <a:ext cx="472727" cy="472727"/>
          </a:xfrm>
          <a:prstGeom prst="rect">
            <a:avLst/>
          </a:prstGeom>
        </p:spPr>
      </p:pic>
      <p:pic>
        <p:nvPicPr>
          <p:cNvPr id="12" name="Grafik 11" descr="Augenscan Silhouette">
            <a:extLst>
              <a:ext uri="{FF2B5EF4-FFF2-40B4-BE49-F238E27FC236}">
                <a16:creationId xmlns:a16="http://schemas.microsoft.com/office/drawing/2014/main" id="{0A88AD50-DA93-0D43-A8B7-88AF77463BAD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7749628" y="4668007"/>
            <a:ext cx="559469" cy="559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76124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nhaltsplatzhalter 5" descr="Ein Bild, das Zeichnung, Menschliches Gesicht, Kleidung, Cartoon enthält.&#10;&#10;KI-generierte Inhalte können fehlerhaft sein.">
            <a:extLst>
              <a:ext uri="{FF2B5EF4-FFF2-40B4-BE49-F238E27FC236}">
                <a16:creationId xmlns:a16="http://schemas.microsoft.com/office/drawing/2014/main" id="{B0DA2051-5C36-F6A8-069A-43EF6A69154E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7576" y="1843583"/>
            <a:ext cx="6784646" cy="4523097"/>
          </a:xfrm>
        </p:spPr>
      </p:pic>
      <p:sp>
        <p:nvSpPr>
          <p:cNvPr id="10" name="Titel 9">
            <a:extLst>
              <a:ext uri="{FF2B5EF4-FFF2-40B4-BE49-F238E27FC236}">
                <a16:creationId xmlns:a16="http://schemas.microsoft.com/office/drawing/2014/main" id="{25AB0C0E-FB05-F96F-2CBF-00226DCA35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Noch </a:t>
            </a:r>
            <a:r>
              <a:rPr lang="en-US" dirty="0" err="1"/>
              <a:t>Fragen</a:t>
            </a:r>
            <a:r>
              <a:rPr lang="en-US" dirty="0"/>
              <a:t>?</a:t>
            </a:r>
            <a:endParaRPr lang="de-DE" dirty="0"/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FD170A2F-6252-2459-95D9-B57FE977567A}"/>
              </a:ext>
            </a:extLst>
          </p:cNvPr>
          <p:cNvSpPr txBox="1"/>
          <p:nvPr/>
        </p:nvSpPr>
        <p:spPr>
          <a:xfrm>
            <a:off x="2305412" y="3263063"/>
            <a:ext cx="32276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cap="all" dirty="0" err="1">
                <a:solidFill>
                  <a:schemeClr val="accent1">
                    <a:lumMod val="50000"/>
                  </a:schemeClr>
                </a:solidFill>
                <a:latin typeface="+mj-lt"/>
                <a:ea typeface="+mj-ea"/>
                <a:cs typeface="+mj-cs"/>
              </a:rPr>
              <a:t>Ansonsten</a:t>
            </a:r>
            <a:endParaRPr lang="de-DE" sz="3600" cap="all" dirty="0">
              <a:solidFill>
                <a:schemeClr val="accent1">
                  <a:lumMod val="50000"/>
                </a:schemeClr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8529779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Drahtmodellgebäude 16 : 9">
  <a:themeElements>
    <a:clrScheme name="WireframeBuilding">
      <a:dk1>
        <a:srgbClr val="404040"/>
      </a:dk1>
      <a:lt1>
        <a:sysClr val="window" lastClr="FFFFFF"/>
      </a:lt1>
      <a:dk2>
        <a:srgbClr val="000000"/>
      </a:dk2>
      <a:lt2>
        <a:srgbClr val="E4F9F9"/>
      </a:lt2>
      <a:accent1>
        <a:srgbClr val="1BDCFF"/>
      </a:accent1>
      <a:accent2>
        <a:srgbClr val="3AC673"/>
      </a:accent2>
      <a:accent3>
        <a:srgbClr val="F6BD1E"/>
      </a:accent3>
      <a:accent4>
        <a:srgbClr val="C74167"/>
      </a:accent4>
      <a:accent5>
        <a:srgbClr val="F17E1F"/>
      </a:accent5>
      <a:accent6>
        <a:srgbClr val="6681CC"/>
      </a:accent6>
      <a:hlink>
        <a:srgbClr val="F17E1F"/>
      </a:hlink>
      <a:folHlink>
        <a:srgbClr val="969696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13666334_TF03031027.potx" id="{26B4F770-6FD4-4F10-9C7E-90A6566077AA}" vid="{471196E2-B1EC-4A2B-8637-080551BAB5A5}"/>
    </a:ext>
  </a:extLst>
</a:theme>
</file>

<file path=ppt/theme/theme2.xml><?xml version="1.0" encoding="utf-8"?>
<a:theme xmlns:a="http://schemas.openxmlformats.org/drawingml/2006/main" name="Office-Design">
  <a:themeElements>
    <a:clrScheme name="WireframeBuilding">
      <a:dk1>
        <a:srgbClr val="404040"/>
      </a:dk1>
      <a:lt1>
        <a:sysClr val="window" lastClr="FFFFFF"/>
      </a:lt1>
      <a:dk2>
        <a:srgbClr val="000000"/>
      </a:dk2>
      <a:lt2>
        <a:srgbClr val="E4F9F9"/>
      </a:lt2>
      <a:accent1>
        <a:srgbClr val="1BDCFF"/>
      </a:accent1>
      <a:accent2>
        <a:srgbClr val="3AC673"/>
      </a:accent2>
      <a:accent3>
        <a:srgbClr val="F6BD1E"/>
      </a:accent3>
      <a:accent4>
        <a:srgbClr val="C74167"/>
      </a:accent4>
      <a:accent5>
        <a:srgbClr val="F17E1F"/>
      </a:accent5>
      <a:accent6>
        <a:srgbClr val="6681CC"/>
      </a:accent6>
      <a:hlink>
        <a:srgbClr val="F17E1F"/>
      </a:hlink>
      <a:folHlink>
        <a:srgbClr val="969696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57000"/>
                <a:satMod val="101000"/>
              </a:schemeClr>
            </a:gs>
            <a:gs pos="50000">
              <a:schemeClr val="phClr">
                <a:lumMod val="137000"/>
                <a:satMod val="103000"/>
              </a:schemeClr>
            </a:gs>
            <a:gs pos="100000">
              <a:schemeClr val="phClr">
                <a:lumMod val="11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18000"/>
              </a:schemeClr>
            </a:gs>
            <a:gs pos="50000">
              <a:schemeClr val="phClr">
                <a:satMod val="89000"/>
                <a:lumMod val="91000"/>
              </a:schemeClr>
            </a:gs>
            <a:gs pos="100000">
              <a:schemeClr val="phClr">
                <a:lumMod val="6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atMod val="100000"/>
                <a:shade val="0"/>
              </a:schemeClr>
            </a:gs>
            <a:gs pos="0">
              <a:scrgbClr r="0" g="0" b="0"/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-Design">
  <a:themeElements>
    <a:clrScheme name="WireframeBuilding">
      <a:dk1>
        <a:srgbClr val="404040"/>
      </a:dk1>
      <a:lt1>
        <a:sysClr val="window" lastClr="FFFFFF"/>
      </a:lt1>
      <a:dk2>
        <a:srgbClr val="000000"/>
      </a:dk2>
      <a:lt2>
        <a:srgbClr val="E4F9F9"/>
      </a:lt2>
      <a:accent1>
        <a:srgbClr val="1BDCFF"/>
      </a:accent1>
      <a:accent2>
        <a:srgbClr val="3AC673"/>
      </a:accent2>
      <a:accent3>
        <a:srgbClr val="F6BD1E"/>
      </a:accent3>
      <a:accent4>
        <a:srgbClr val="C74167"/>
      </a:accent4>
      <a:accent5>
        <a:srgbClr val="F17E1F"/>
      </a:accent5>
      <a:accent6>
        <a:srgbClr val="6681CC"/>
      </a:accent6>
      <a:hlink>
        <a:srgbClr val="F17E1F"/>
      </a:hlink>
      <a:folHlink>
        <a:srgbClr val="969696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57000"/>
                <a:satMod val="101000"/>
              </a:schemeClr>
            </a:gs>
            <a:gs pos="50000">
              <a:schemeClr val="phClr">
                <a:lumMod val="137000"/>
                <a:satMod val="103000"/>
              </a:schemeClr>
            </a:gs>
            <a:gs pos="100000">
              <a:schemeClr val="phClr">
                <a:lumMod val="11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18000"/>
              </a:schemeClr>
            </a:gs>
            <a:gs pos="50000">
              <a:schemeClr val="phClr">
                <a:satMod val="89000"/>
                <a:lumMod val="91000"/>
              </a:schemeClr>
            </a:gs>
            <a:gs pos="100000">
              <a:schemeClr val="phClr">
                <a:lumMod val="6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atMod val="100000"/>
                <a:shade val="0"/>
              </a:schemeClr>
            </a:gs>
            <a:gs pos="0">
              <a:scrgbClr r="0" g="0" b="0"/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EE3AC449E313CB4AA1D2FC4E607EDBCC" ma:contentTypeVersion="5" ma:contentTypeDescription="Ein neues Dokument erstellen." ma:contentTypeScope="" ma:versionID="ff296050c1f5aa5033550443fdf24eb7">
  <xsd:schema xmlns:xsd="http://www.w3.org/2001/XMLSchema" xmlns:xs="http://www.w3.org/2001/XMLSchema" xmlns:p="http://schemas.microsoft.com/office/2006/metadata/properties" xmlns:ns3="24dbe5a8-dc0f-47e9-8e12-331ca495ef67" targetNamespace="http://schemas.microsoft.com/office/2006/metadata/properties" ma:root="true" ma:fieldsID="2a4f2741a8f185441516e0fe0579a52a" ns3:_="">
    <xsd:import namespace="24dbe5a8-dc0f-47e9-8e12-331ca495ef67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4dbe5a8-dc0f-47e9-8e12-331ca495ef67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630C5B9-1E5F-4356-968E-2FC64955BFF3}">
  <ds:schemaRefs>
    <ds:schemaRef ds:uri="http://purl.org/dc/dcmitype/"/>
    <ds:schemaRef ds:uri="http://purl.org/dc/elements/1.1/"/>
    <ds:schemaRef ds:uri="24dbe5a8-dc0f-47e9-8e12-331ca495ef67"/>
    <ds:schemaRef ds:uri="http://schemas.microsoft.com/office/2006/documentManagement/types"/>
    <ds:schemaRef ds:uri="http://schemas.microsoft.com/office/2006/metadata/properties"/>
    <ds:schemaRef ds:uri="http://purl.org/dc/terms/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2E6DFB71-5650-4E53-8134-FCF33ECDD3D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389FC33-648D-4E0F-802C-0D9C69E3BB8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4dbe5a8-dc0f-47e9-8e12-331ca495ef6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Geschäftsgebäude-Drahtmodellpräsentation (Breitbild)</Template>
  <TotalTime>0</TotalTime>
  <Words>736</Words>
  <Application>Microsoft Office PowerPoint</Application>
  <PresentationFormat>Breitbild</PresentationFormat>
  <Paragraphs>116</Paragraphs>
  <Slides>31</Slides>
  <Notes>6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31</vt:i4>
      </vt:variant>
    </vt:vector>
  </HeadingPairs>
  <TitlesOfParts>
    <vt:vector size="35" baseType="lpstr">
      <vt:lpstr>Arial</vt:lpstr>
      <vt:lpstr>Calibri</vt:lpstr>
      <vt:lpstr>Consolas</vt:lpstr>
      <vt:lpstr>Drahtmodellgebäude 16 : 9</vt:lpstr>
      <vt:lpstr> SQL-PROJEKT Normalisierung</vt:lpstr>
      <vt:lpstr>Roadmap</vt:lpstr>
      <vt:lpstr>PowerPoint-Präsentation</vt:lpstr>
      <vt:lpstr>1.excel Imports &amp; Normalisierung 1/3</vt:lpstr>
      <vt:lpstr>1.excel Imports &amp; Normalisierung 2/3</vt:lpstr>
      <vt:lpstr>1.excel Imports &amp; Normalisierung 3/3</vt:lpstr>
      <vt:lpstr>2. Postgres Datenbank &amp; Imports 1/3 </vt:lpstr>
      <vt:lpstr>2. Postgres Datenbank &amp; Imports 2/3</vt:lpstr>
      <vt:lpstr>2. Postgres Datenbank &amp; Imports 3/3</vt:lpstr>
      <vt:lpstr>3. Users &amp; Roles</vt:lpstr>
      <vt:lpstr>3.1.ROLES 1/2</vt:lpstr>
      <vt:lpstr>3.2 ROLES 2/2</vt:lpstr>
      <vt:lpstr>3.2 USERs 1/2</vt:lpstr>
      <vt:lpstr>3.2 Users 2/2</vt:lpstr>
      <vt:lpstr>3.3 Users Controlling</vt:lpstr>
      <vt:lpstr>AUFGABE 4 : Datensicherheit 1/2  </vt:lpstr>
      <vt:lpstr>PowerPoint-Präsentation</vt:lpstr>
      <vt:lpstr>PowerPoint-Präsentation</vt:lpstr>
      <vt:lpstr>AUFGABE 4 : Datensicherheit 2/2  </vt:lpstr>
      <vt:lpstr>AUFGABE 5 Datenanalyst queries 1/4</vt:lpstr>
      <vt:lpstr>AUFGABE 5 Datenanalyst queries 2/4</vt:lpstr>
      <vt:lpstr>AUFGABE 5 Datenanalyst queries 3/4</vt:lpstr>
      <vt:lpstr>AUFGABE 5 Datenanalyst queries 4/4</vt:lpstr>
      <vt:lpstr>AUFGABE 6 Control Triggers 1/6 </vt:lpstr>
      <vt:lpstr>PowerPoint-Präsentation</vt:lpstr>
      <vt:lpstr>AUFGABE 6 Control Triggers 3/6</vt:lpstr>
      <vt:lpstr>AUFGABE 6 Control Triggers 4/6</vt:lpstr>
      <vt:lpstr>AUFGABE 6 Control Triggers 5/6 </vt:lpstr>
      <vt:lpstr>AUFGABE 6 Control Triggers 6/6 </vt:lpstr>
      <vt:lpstr>Schlußfolgerung</vt:lpstr>
      <vt:lpstr>Noch Fragen?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Alexander Leypold</dc:creator>
  <cp:lastModifiedBy>Alexander Leypold</cp:lastModifiedBy>
  <cp:revision>8</cp:revision>
  <dcterms:created xsi:type="dcterms:W3CDTF">2025-05-12T06:53:03Z</dcterms:created>
  <dcterms:modified xsi:type="dcterms:W3CDTF">2025-05-15T11:18:07Z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0x010100EE3AC449E313CB4AA1D2FC4E607EDBCC</vt:lpwstr>
  </property>
  <property fmtid="{D5CDD505-2E9C-101B-9397-08002B2CF9AE}" pid="3" name="InternalTags">
    <vt:lpwstr/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ScenarioTags">
    <vt:lpwstr/>
  </property>
  <property fmtid="{D5CDD505-2E9C-101B-9397-08002B2CF9AE}" pid="7" name="CampaignTags">
    <vt:lpwstr/>
  </property>
</Properties>
</file>